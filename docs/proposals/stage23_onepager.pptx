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 of Misinformation</a:t>
            </a:r>
            <a:pPr indent="0" marL="0">
              <a:buNone/>
            </a:pPr>
            <a:r>
              <a:rPr lang="en-US" sz="16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from moral perception to networked spread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 (done): humans &amp; LLMs judge misinformation by where it sits on two truth dimensions  ▸  Study 2: the Bayesian computation behind that judgment  ▸  Study 3: what that computation does to a social network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3401568" cy="4828032"/>
          </a:xfrm>
          <a:prstGeom prst="roundRect">
            <a:avLst>
              <a:gd name="adj" fmla="val 215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AAB2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41648" y="1024128"/>
            <a:ext cx="4160520" cy="4828032"/>
          </a:xfrm>
          <a:prstGeom prst="roundRect">
            <a:avLst>
              <a:gd name="adj" fmla="val 1758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AAB2C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30768" y="1024128"/>
            <a:ext cx="3346704" cy="4828032"/>
          </a:xfrm>
          <a:prstGeom prst="roundRect">
            <a:avLst>
              <a:gd name="adj" fmla="val 21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AAB2C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0" y="3246120"/>
            <a:ext cx="201168" cy="310896"/>
          </a:xfrm>
          <a:prstGeom prst="chevron">
            <a:avLst/>
          </a:prstGeom>
          <a:solidFill>
            <a:srgbClr val="9AA7C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3246120"/>
            <a:ext cx="201168" cy="310896"/>
          </a:xfrm>
          <a:prstGeom prst="chevron">
            <a:avLst/>
          </a:prstGeom>
          <a:solidFill>
            <a:srgbClr val="9AA7C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1338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CA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 · COMPLETE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133502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Moral perception is organized by two truths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78992" y="186537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TRUE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68880" y="186537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FALSE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TRUE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FALSE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78992" y="2084832"/>
            <a:ext cx="1298448" cy="658368"/>
          </a:xfrm>
          <a:prstGeom prst="roundRect">
            <a:avLst>
              <a:gd name="adj" fmla="val 6944"/>
            </a:avLst>
          </a:prstGeom>
          <a:solidFill>
            <a:srgbClr val="2CA02C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2084832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truth
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1.0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2084832"/>
            <a:ext cx="1298448" cy="658368"/>
          </a:xfrm>
          <a:prstGeom prst="roundRect">
            <a:avLst>
              <a:gd name="adj" fmla="val 6944"/>
            </a:avLst>
          </a:prstGeom>
          <a:solidFill>
            <a:srgbClr val="1F77B4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2084832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truthy falsehood
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2.1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78992" y="2834640"/>
            <a:ext cx="1298448" cy="658368"/>
          </a:xfrm>
          <a:prstGeom prst="roundRect">
            <a:avLst>
              <a:gd name="adj" fmla="val 6944"/>
            </a:avLst>
          </a:prstGeom>
          <a:solidFill>
            <a:srgbClr val="E8730C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" y="28346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PALTER
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3.7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2834640"/>
            <a:ext cx="1298448" cy="658368"/>
          </a:xfrm>
          <a:prstGeom prst="roundRect">
            <a:avLst>
              <a:gd name="adj" fmla="val 6944"/>
            </a:avLst>
          </a:prstGeom>
          <a:solidFill>
            <a:srgbClr val="D62728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28346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blatant lie
</a:t>
            </a:r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= 5.5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3785616"/>
            <a:ext cx="31272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Condemnation tracks the takeaway (β ≈ −.70), barely the details (−.13)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literal-truth discount: palters forgiven by 1.9–2.7 pts — knowingly (models decode the false gist 65–99%)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Robust: unanchored (+48% larger), informed arm, EN/ZH/JA prompts, reasoning language</a:t>
            </a:r>
            <a:endParaRPr lang="en-US" sz="96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6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survey, identical items &amp; scales, now in the field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4206240" y="11338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7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2 · THE MECHANISM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06240" y="13350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Bayesian mental model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206240" y="1700784"/>
            <a:ext cx="3858768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C9D1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1700784"/>
            <a:ext cx="3712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BELIEFS   b_g = P(gist true), b_v = P(details true) — measured; Bayes-updated by evidence (rate η)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206240" y="2066544"/>
            <a:ext cx="3858768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C9D1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2066544"/>
            <a:ext cx="3712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MORAL COST  M — judgment (the UNETHICAL rating) reads out M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206240" y="2432304"/>
            <a:ext cx="3858768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C9D1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2432304"/>
            <a:ext cx="3712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ACTION   share/write:  U = benefits − λ·M,  P(act) = σ(τU)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206240" y="2852928"/>
            <a:ext cx="3858768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0" y="285292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(1−b</a:t>
            </a:r>
            <a:pPr algn="ctr" indent="0" marL="0">
              <a:buNone/>
            </a:pPr>
            <a:r>
              <a:rPr lang="en-US" sz="135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)·C</a:t>
            </a:r>
            <a:pPr algn="ctr" indent="0" marL="0">
              <a:buNone/>
            </a:pPr>
            <a:r>
              <a:rPr lang="en-US" sz="135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·(1−</a:t>
            </a:r>
            <a:pPr algn="ctr" indent="0" marL="0">
              <a:buNone/>
            </a:pPr>
            <a:r>
              <a:rPr lang="en-US" sz="1350" b="1" dirty="0">
                <a:solidFill>
                  <a:srgbClr val="FFB2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·b</a:t>
            </a:r>
            <a:pPr algn="ctr" indent="0" marL="0">
              <a:buNone/>
            </a:pPr>
            <a:r>
              <a:rPr lang="en-US" sz="135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 +  (1−b</a:t>
            </a:r>
            <a:pPr algn="ctr" indent="0" marL="0">
              <a:buNone/>
            </a:pPr>
            <a:r>
              <a:rPr lang="en-US" sz="135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)·C</a:t>
            </a:r>
            <a:pPr algn="ctr" indent="0" marL="0">
              <a:buNone/>
            </a:pPr>
            <a:r>
              <a:rPr lang="en-US" sz="135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·(1−</a:t>
            </a:r>
            <a:pPr algn="ctr" indent="0" marL="0">
              <a:buNone/>
            </a:pPr>
            <a:r>
              <a:rPr lang="en-US" sz="1350" b="1" dirty="0">
                <a:solidFill>
                  <a:srgbClr val="8E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·b</a:t>
            </a:r>
            <a:pPr algn="ctr" indent="0" marL="0">
              <a:buNone/>
            </a:pPr>
            <a:r>
              <a:rPr lang="en-US" sz="135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206240" y="320040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literal-truth discount (true details excuse a false takeaway)   ·   κ = good-cause license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06240" y="3547872"/>
            <a:ext cx="3858768" cy="475488"/>
          </a:xfrm>
          <a:prstGeom prst="roundRect">
            <a:avLst>
              <a:gd name="adj" fmla="val 9615"/>
            </a:avLst>
          </a:prstGeom>
          <a:solidFill>
            <a:srgbClr val="E7F0E4"/>
          </a:solidFill>
          <a:ln/>
        </p:spPr>
      </p:sp>
      <p:sp>
        <p:nvSpPr>
          <p:cNvPr id="36" name="Text 34"/>
          <p:cNvSpPr/>
          <p:nvPr/>
        </p:nvSpPr>
        <p:spPr>
          <a:xfrm>
            <a:off x="4315968" y="354787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fits our 6,239 existing ratings: </a:t>
            </a:r>
            <a:pPr indent="0" marL="0">
              <a:buNone/>
            </a:pPr>
            <a:r>
              <a:rPr lang="en-US" sz="880" dirty="0">
                <a:solidFill>
                  <a:srgbClr val="24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.60–.66; C_g ≫ C_v recovered. But δ, κ are not identifiable from static data → the experiments below.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206240" y="4114800"/>
            <a:ext cx="3886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— Fit &amp; compare species.  </a:t>
            </a:r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fit, humans vs each model: is the human δ bigger than the machine δ? (cross-validated vs additive/simpler models)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Two-turn updating (identifies δ causally).  </a:t>
            </a:r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"Help me post this (false) gist" → resists → give verbatim-TRUE evidence (b_v↑) → willingness rises beyond additive = δ. Mirror arm flips the order (κ). Sycophancy control: pressure, no evidence.</a:t>
            </a:r>
            <a:endParaRPr lang="en-US" sz="92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— Prefactual cue (splits belief vs value paths).  </a:t>
            </a:r>
            <a:pPr indent="0" marL="0">
              <a:spcAft>
                <a:spcPts val="500"/>
              </a:spcAft>
              <a:buNone/>
            </a:pPr>
            <a:r>
              <a:rPr lang="en-US" sz="92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well turn out true" (Effron): the model quantifies how much of its excusing effect runs through b_g vs through C_g/δ — decomposing the known mediation into parameters.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8595360" y="11338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3 · THE CONSEQUENCE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95360" y="13350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 in a social network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9066276" y="2116836"/>
            <a:ext cx="640080" cy="-228600"/>
          </a:xfrm>
          <a:prstGeom prst="line">
            <a:avLst/>
          </a:prstGeom>
          <a:noFill/>
          <a:ln w="12700">
            <a:solidFill>
              <a:srgbClr val="C4CA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88068" y="1869948"/>
            <a:ext cx="594360" cy="320040"/>
          </a:xfrm>
          <a:prstGeom prst="line">
            <a:avLst/>
          </a:prstGeom>
          <a:noFill/>
          <a:ln w="12700">
            <a:solidFill>
              <a:srgbClr val="C4CA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82428" y="2189988"/>
            <a:ext cx="640080" cy="-228600"/>
          </a:xfrm>
          <a:prstGeom prst="line">
            <a:avLst/>
          </a:prstGeom>
          <a:noFill/>
          <a:ln w="12700">
            <a:solidFill>
              <a:srgbClr val="C4CA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15650" y="1954530"/>
            <a:ext cx="411480" cy="365760"/>
          </a:xfrm>
          <a:prstGeom prst="line">
            <a:avLst/>
          </a:prstGeom>
          <a:noFill/>
          <a:ln w="12700">
            <a:solidFill>
              <a:srgbClr val="C4CA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82428" y="2189988"/>
            <a:ext cx="502920" cy="365760"/>
          </a:xfrm>
          <a:prstGeom prst="line">
            <a:avLst/>
          </a:prstGeom>
          <a:noFill/>
          <a:ln w="12700">
            <a:solidFill>
              <a:srgbClr val="C4CA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88068" y="1869948"/>
            <a:ext cx="-137160" cy="594360"/>
          </a:xfrm>
          <a:prstGeom prst="line">
            <a:avLst/>
          </a:prstGeom>
          <a:noFill/>
          <a:ln w="12700">
            <a:solidFill>
              <a:srgbClr val="C4CAD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50908" y="2464308"/>
            <a:ext cx="-640080" cy="182880"/>
          </a:xfrm>
          <a:prstGeom prst="line">
            <a:avLst/>
          </a:prstGeom>
          <a:noFill/>
          <a:ln w="12700">
            <a:solidFill>
              <a:srgbClr val="C4CA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78490" y="2548890"/>
            <a:ext cx="-731520" cy="137160"/>
          </a:xfrm>
          <a:prstGeom prst="line">
            <a:avLst/>
          </a:prstGeom>
          <a:noFill/>
          <a:ln w="12700">
            <a:solidFill>
              <a:srgbClr val="C4CAD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78490" y="2548890"/>
            <a:ext cx="502920" cy="182880"/>
          </a:xfrm>
          <a:prstGeom prst="line">
            <a:avLst/>
          </a:prstGeom>
          <a:noFill/>
          <a:ln w="12700">
            <a:solidFill>
              <a:srgbClr val="C4CAD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66276" y="2116836"/>
            <a:ext cx="502920" cy="365760"/>
          </a:xfrm>
          <a:prstGeom prst="line">
            <a:avLst/>
          </a:prstGeom>
          <a:noFill/>
          <a:ln w="12700">
            <a:solidFill>
              <a:srgbClr val="C4CAD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82428" y="2189988"/>
            <a:ext cx="-228600" cy="502920"/>
          </a:xfrm>
          <a:prstGeom prst="line">
            <a:avLst/>
          </a:prstGeom>
          <a:noFill/>
          <a:ln w="12700">
            <a:solidFill>
              <a:srgbClr val="C4CAD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06840" y="2057400"/>
            <a:ext cx="118872" cy="118872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52" name="Shape 50"/>
          <p:cNvSpPr/>
          <p:nvPr/>
        </p:nvSpPr>
        <p:spPr>
          <a:xfrm>
            <a:off x="9646920" y="1828800"/>
            <a:ext cx="82296" cy="8229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53" name="Shape 51"/>
          <p:cNvSpPr/>
          <p:nvPr/>
        </p:nvSpPr>
        <p:spPr>
          <a:xfrm>
            <a:off x="10241280" y="2148840"/>
            <a:ext cx="82296" cy="8229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54" name="Shape 52"/>
          <p:cNvSpPr/>
          <p:nvPr/>
        </p:nvSpPr>
        <p:spPr>
          <a:xfrm>
            <a:off x="9509760" y="2423160"/>
            <a:ext cx="82296" cy="82296"/>
          </a:xfrm>
          <a:prstGeom prst="ellipse">
            <a:avLst/>
          </a:prstGeom>
          <a:solidFill>
            <a:srgbClr val="B9BFCE"/>
          </a:solidFill>
          <a:ln/>
        </p:spPr>
      </p:sp>
      <p:sp>
        <p:nvSpPr>
          <p:cNvPr id="55" name="Shape 53"/>
          <p:cNvSpPr/>
          <p:nvPr/>
        </p:nvSpPr>
        <p:spPr>
          <a:xfrm>
            <a:off x="10881360" y="1920240"/>
            <a:ext cx="68580" cy="6858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56" name="Shape 54"/>
          <p:cNvSpPr/>
          <p:nvPr/>
        </p:nvSpPr>
        <p:spPr>
          <a:xfrm>
            <a:off x="11292840" y="2286000"/>
            <a:ext cx="54864" cy="54864"/>
          </a:xfrm>
          <a:prstGeom prst="ellipse">
            <a:avLst/>
          </a:prstGeom>
          <a:solidFill>
            <a:srgbClr val="B9BFCE"/>
          </a:solidFill>
          <a:ln/>
        </p:spPr>
      </p:sp>
      <p:sp>
        <p:nvSpPr>
          <p:cNvPr id="57" name="Shape 55"/>
          <p:cNvSpPr/>
          <p:nvPr/>
        </p:nvSpPr>
        <p:spPr>
          <a:xfrm>
            <a:off x="10744200" y="2514600"/>
            <a:ext cx="68580" cy="6858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58" name="Shape 56"/>
          <p:cNvSpPr/>
          <p:nvPr/>
        </p:nvSpPr>
        <p:spPr>
          <a:xfrm>
            <a:off x="8869680" y="2606040"/>
            <a:ext cx="68580" cy="68580"/>
          </a:xfrm>
          <a:prstGeom prst="ellipse">
            <a:avLst/>
          </a:prstGeom>
          <a:solidFill>
            <a:srgbClr val="B9BFCE"/>
          </a:solidFill>
          <a:ln/>
        </p:spPr>
      </p:sp>
      <p:sp>
        <p:nvSpPr>
          <p:cNvPr id="59" name="Shape 57"/>
          <p:cNvSpPr/>
          <p:nvPr/>
        </p:nvSpPr>
        <p:spPr>
          <a:xfrm>
            <a:off x="10012680" y="2651760"/>
            <a:ext cx="54864" cy="548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60" name="Shape 58"/>
          <p:cNvSpPr/>
          <p:nvPr/>
        </p:nvSpPr>
        <p:spPr>
          <a:xfrm>
            <a:off x="11247120" y="2697480"/>
            <a:ext cx="54864" cy="54864"/>
          </a:xfrm>
          <a:prstGeom prst="ellipse">
            <a:avLst/>
          </a:prstGeom>
          <a:solidFill>
            <a:srgbClr val="B9BFCE"/>
          </a:solidFill>
          <a:ln/>
        </p:spPr>
      </p:sp>
      <p:sp>
        <p:nvSpPr>
          <p:cNvPr id="61" name="Text 59"/>
          <p:cNvSpPr/>
          <p:nvPr/>
        </p:nvSpPr>
        <p:spPr>
          <a:xfrm>
            <a:off x="10561320" y="28529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palter spreading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595360" y="3154680"/>
            <a:ext cx="303580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the fitted mental model — one society drawn from human parameters, one from each LLM's</a:t>
            </a:r>
            <a:endParaRPr lang="en-US" sz="93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δ become a transmission advantage? The palter's moral pass = the mechanism behind the 46× harm gap (Allen, Watts &amp; Rand, Science 2024)</a:t>
            </a:r>
            <a:endParaRPr lang="en-US" sz="93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chains: retold content should EVOLVE toward the palter — details laundered true, takeaway kept false</a:t>
            </a:r>
            <a:endParaRPr lang="en-US" sz="93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Calibrate-then-predict: Community Notes (29% of misleading posts = pure missing-context), cascade asymmetries</a:t>
            </a:r>
            <a:endParaRPr lang="en-US" sz="930" dirty="0"/>
          </a:p>
        </p:txBody>
      </p:sp>
      <p:sp>
        <p:nvSpPr>
          <p:cNvPr id="63" name="Shape 61"/>
          <p:cNvSpPr/>
          <p:nvPr/>
        </p:nvSpPr>
        <p:spPr>
          <a:xfrm>
            <a:off x="411480" y="6016752"/>
            <a:ext cx="11365992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/>
        </p:spPr>
      </p:sp>
      <p:sp>
        <p:nvSpPr>
          <p:cNvPr id="64" name="Text 62"/>
          <p:cNvSpPr/>
          <p:nvPr/>
        </p:nvSpPr>
        <p:spPr>
          <a:xfrm>
            <a:off x="640080" y="60167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the δκ-model beats additive fits in both species  ·  H2 δ &gt; 0 in humans AND models — their gap is the headline  ·  H3 raising b_v causally licenses false-gist sharing  ·  H4 evidence works through beliefs; prefactuals split belief/value paths  ·  H5 palters out-travel every other type, and content drifts palter-ward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2026-07-26T02:59:10Z</dcterms:created>
  <dcterms:modified xsi:type="dcterms:W3CDTF">2026-07-26T02:59:10Z</dcterms:modified>
</cp:coreProperties>
</file>