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2192000" cy="21618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97"/>
    <p:restoredTop sz="94668"/>
  </p:normalViewPr>
  <p:slideViewPr>
    <p:cSldViewPr snapToGrid="0">
      <p:cViewPr>
        <p:scale>
          <a:sx n="259" d="100"/>
          <a:sy n="259" d="100"/>
        </p:scale>
        <p:origin x="-4552" y="-26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7CD1B-CBFC-6D4F-B4ED-A7A621DE9DB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59050" y="1143000"/>
            <a:ext cx="1739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2C467-BE6F-AA4D-9183-56FB7ACC02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18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92C467-BE6F-AA4D-9183-56FB7ACC02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38041"/>
            <a:ext cx="10363200" cy="7526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354758"/>
            <a:ext cx="9144000" cy="52194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00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389637"/>
            <a:ext cx="10515600" cy="8992725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467437"/>
            <a:ext cx="10515600" cy="4729062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8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754945"/>
            <a:ext cx="5181600" cy="137167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754945"/>
            <a:ext cx="5181600" cy="137167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0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50994"/>
            <a:ext cx="10515600" cy="417859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299555"/>
            <a:ext cx="5157787" cy="259723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896785"/>
            <a:ext cx="5157787" cy="11614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299555"/>
            <a:ext cx="5183188" cy="259723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896785"/>
            <a:ext cx="5183188" cy="11614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6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5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4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1238"/>
            <a:ext cx="3932237" cy="504433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112679"/>
            <a:ext cx="6172200" cy="1536320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485573"/>
            <a:ext cx="3932237" cy="1201532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96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1238"/>
            <a:ext cx="3932237" cy="504433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112679"/>
            <a:ext cx="6172200" cy="1536320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485573"/>
            <a:ext cx="3932237" cy="1201532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0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0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50989"/>
            <a:ext cx="2628900" cy="1832074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50989"/>
            <a:ext cx="7734300" cy="1832074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3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0994"/>
            <a:ext cx="10515600" cy="417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754945"/>
            <a:ext cx="10515600" cy="13716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0037221"/>
            <a:ext cx="2743200" cy="1150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4FA627-A06D-F948-8DAC-442ACFEFD00B}" type="datetimeFigureOut">
              <a:rPr lang="en-US" smtClean="0"/>
              <a:t>7/22/26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0037221"/>
            <a:ext cx="4114800" cy="1150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0037221"/>
            <a:ext cx="2743200" cy="11509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69AA2F-ACA5-274A-A944-F71E1E02F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2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80F66A-FBAF-0939-8AD3-F60D9D5A5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70601"/>
            <a:ext cx="12192000" cy="5511799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C8578EAD-397A-C14F-3C79-867D7B0CB044}"/>
              </a:ext>
            </a:extLst>
          </p:cNvPr>
          <p:cNvSpPr/>
          <p:nvPr/>
        </p:nvSpPr>
        <p:spPr>
          <a:xfrm rot="16200000">
            <a:off x="4467341" y="7774811"/>
            <a:ext cx="132202" cy="539825"/>
          </a:xfrm>
          <a:prstGeom prst="rightBrac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77A299-718E-DA08-D151-E065A7A567AC}"/>
              </a:ext>
            </a:extLst>
          </p:cNvPr>
          <p:cNvSpPr txBox="1"/>
          <p:nvPr/>
        </p:nvSpPr>
        <p:spPr>
          <a:xfrm>
            <a:off x="4351665" y="7741492"/>
            <a:ext cx="451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**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ACBBE5-FB48-D612-61AD-0CF55E8E4A69}"/>
              </a:ext>
            </a:extLst>
          </p:cNvPr>
          <p:cNvSpPr txBox="1"/>
          <p:nvPr/>
        </p:nvSpPr>
        <p:spPr>
          <a:xfrm>
            <a:off x="6007867" y="6538817"/>
            <a:ext cx="451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n.s</a:t>
            </a:r>
            <a:r>
              <a:rPr lang="en-US" altLang="zh-CN" sz="1600" dirty="0"/>
              <a:t>.</a:t>
            </a:r>
            <a:endParaRPr 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CA88F-4EFB-3899-0C82-BF7B61DD96A3}"/>
              </a:ext>
            </a:extLst>
          </p:cNvPr>
          <p:cNvSpPr txBox="1"/>
          <p:nvPr/>
        </p:nvSpPr>
        <p:spPr>
          <a:xfrm>
            <a:off x="2513684" y="9335266"/>
            <a:ext cx="451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n.s</a:t>
            </a:r>
            <a:r>
              <a:rPr lang="en-US" altLang="zh-CN" sz="1600" dirty="0"/>
              <a:t>.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8E27A-C36A-803E-DF52-9DCF3AD5D990}"/>
              </a:ext>
            </a:extLst>
          </p:cNvPr>
          <p:cNvSpPr txBox="1"/>
          <p:nvPr/>
        </p:nvSpPr>
        <p:spPr>
          <a:xfrm>
            <a:off x="750985" y="10183565"/>
            <a:ext cx="4516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/>
              <a:t>n.s</a:t>
            </a:r>
            <a:r>
              <a:rPr lang="en-US" altLang="zh-CN" sz="1600" dirty="0"/>
              <a:t>.</a:t>
            </a:r>
            <a:endParaRPr lang="en-US" sz="16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206BB34-4B62-FF63-C3AE-38CE63332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25015"/>
              </p:ext>
            </p:extLst>
          </p:nvPr>
        </p:nvGraphicFramePr>
        <p:xfrm>
          <a:off x="528069" y="12025749"/>
          <a:ext cx="8799415" cy="18254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59883">
                  <a:extLst>
                    <a:ext uri="{9D8B030D-6E8A-4147-A177-3AD203B41FA5}">
                      <a16:colId xmlns:a16="http://schemas.microsoft.com/office/drawing/2014/main" val="2770818514"/>
                    </a:ext>
                  </a:extLst>
                </a:gridCol>
                <a:gridCol w="1759883">
                  <a:extLst>
                    <a:ext uri="{9D8B030D-6E8A-4147-A177-3AD203B41FA5}">
                      <a16:colId xmlns:a16="http://schemas.microsoft.com/office/drawing/2014/main" val="1902862299"/>
                    </a:ext>
                  </a:extLst>
                </a:gridCol>
                <a:gridCol w="1759883">
                  <a:extLst>
                    <a:ext uri="{9D8B030D-6E8A-4147-A177-3AD203B41FA5}">
                      <a16:colId xmlns:a16="http://schemas.microsoft.com/office/drawing/2014/main" val="234342750"/>
                    </a:ext>
                  </a:extLst>
                </a:gridCol>
                <a:gridCol w="1759883">
                  <a:extLst>
                    <a:ext uri="{9D8B030D-6E8A-4147-A177-3AD203B41FA5}">
                      <a16:colId xmlns:a16="http://schemas.microsoft.com/office/drawing/2014/main" val="3979485283"/>
                    </a:ext>
                  </a:extLst>
                </a:gridCol>
                <a:gridCol w="1759883">
                  <a:extLst>
                    <a:ext uri="{9D8B030D-6E8A-4147-A177-3AD203B41FA5}">
                      <a16:colId xmlns:a16="http://schemas.microsoft.com/office/drawing/2014/main" val="2976045907"/>
                    </a:ext>
                  </a:extLst>
                </a:gridCol>
              </a:tblGrid>
              <a:tr h="39907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cell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joint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isolated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Δ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 dirty="0">
                          <a:solidFill>
                            <a:srgbClr val="0A0A0A"/>
                          </a:solidFill>
                          <a:effectLst/>
                        </a:rPr>
                        <a:t>p (paired, n=24)</a:t>
                      </a:r>
                      <a:endParaRPr lang="en-AU" sz="105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029337"/>
                  </a:ext>
                </a:extLst>
              </a:tr>
              <a:tr h="435033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whole truth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1.09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1.00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+0.09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ns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57054514"/>
                  </a:ext>
                </a:extLst>
              </a:tr>
              <a:tr h="301337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palter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3.77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3.12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+0.65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 dirty="0">
                          <a:solidFill>
                            <a:srgbClr val="0A0A0A"/>
                          </a:solidFill>
                          <a:effectLst/>
                        </a:rPr>
                        <a:t>.002</a:t>
                      </a:r>
                      <a:endParaRPr lang="en-AU" sz="105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692155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truthy falsehood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1.95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 dirty="0">
                          <a:solidFill>
                            <a:srgbClr val="0A0A0A"/>
                          </a:solidFill>
                          <a:effectLst/>
                        </a:rPr>
                        <a:t>2.16</a:t>
                      </a:r>
                      <a:endParaRPr lang="en-AU" sz="105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 dirty="0">
                          <a:solidFill>
                            <a:srgbClr val="0A0A0A"/>
                          </a:solidFill>
                          <a:effectLst/>
                        </a:rPr>
                        <a:t>−0.20</a:t>
                      </a:r>
                      <a:endParaRPr lang="en-AU" sz="105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/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 dirty="0">
                          <a:solidFill>
                            <a:srgbClr val="0A0A0A"/>
                          </a:solidFill>
                          <a:effectLst/>
                        </a:rPr>
                        <a:t>ns</a:t>
                      </a:r>
                      <a:endParaRPr lang="en-AU" sz="105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/>
                </a:tc>
                <a:extLst>
                  <a:ext uri="{0D108BD9-81ED-4DB2-BD59-A6C34878D82A}">
                    <a16:rowId xmlns:a16="http://schemas.microsoft.com/office/drawing/2014/main" val="1277426039"/>
                  </a:ext>
                </a:extLst>
              </a:tr>
              <a:tr h="399078"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blatant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5.63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5.85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>
                          <a:solidFill>
                            <a:srgbClr val="0A0A0A"/>
                          </a:solidFill>
                          <a:effectLst/>
                        </a:rPr>
                        <a:t>−0.22</a:t>
                      </a:r>
                      <a:endParaRPr lang="en-AU" sz="1050" b="0" i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t">
                        <a:buNone/>
                      </a:pPr>
                      <a:r>
                        <a:rPr lang="en-AU" sz="1050" b="0" dirty="0">
                          <a:solidFill>
                            <a:srgbClr val="0A0A0A"/>
                          </a:solidFill>
                          <a:effectLst/>
                        </a:rPr>
                        <a:t>ns</a:t>
                      </a:r>
                      <a:endParaRPr lang="en-AU" sz="1050" b="0" i="0" dirty="0">
                        <a:solidFill>
                          <a:srgbClr val="0A0A0A"/>
                        </a:solidFill>
                        <a:effectLst/>
                        <a:latin typeface="Anthropic Sans"/>
                      </a:endParaRPr>
                    </a:p>
                  </a:txBody>
                  <a:tcPr marL="57150" marR="57150" marT="57150" marB="57150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31358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0EDD01B-6EA5-FEE2-22DE-4D1B5FC9E84D}"/>
              </a:ext>
            </a:extLst>
          </p:cNvPr>
          <p:cNvSpPr txBox="1"/>
          <p:nvPr/>
        </p:nvSpPr>
        <p:spPr>
          <a:xfrm>
            <a:off x="376333" y="4654926"/>
            <a:ext cx="11524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err="1">
                <a:latin typeface="Avenir Book" panose="02000503020000020003" pitchFamily="2" charset="0"/>
              </a:rPr>
              <a:t>Roubutness</a:t>
            </a:r>
            <a:r>
              <a:rPr lang="en-US" b="1" dirty="0">
                <a:latin typeface="Avenir Book" panose="02000503020000020003" pitchFamily="2" charset="0"/>
              </a:rPr>
              <a:t> check for unethical alone condition to eliminate anchoring effect.</a:t>
            </a:r>
          </a:p>
          <a:p>
            <a:r>
              <a:rPr lang="en-US" b="1" dirty="0">
                <a:latin typeface="Avenir Book" panose="02000503020000020003" pitchFamily="2" charset="0"/>
              </a:rPr>
              <a:t>	Without giving scores for verbatim and gist truth first, the models have even higher tolerance for Palters. The verbatim and gist scores do have an anchoring effect.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5C497F-668E-A515-1309-4C735C8806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47"/>
          <a:stretch>
            <a:fillRect/>
          </a:stretch>
        </p:blipFill>
        <p:spPr>
          <a:xfrm>
            <a:off x="291123" y="14514222"/>
            <a:ext cx="5790155" cy="3813938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9205B7-FF41-0640-548D-00769E52B8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718" y="18404880"/>
            <a:ext cx="6840683" cy="3213695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  <p:sp>
        <p:nvSpPr>
          <p:cNvPr id="18" name="Left Brace 17">
            <a:extLst>
              <a:ext uri="{FF2B5EF4-FFF2-40B4-BE49-F238E27FC236}">
                <a16:creationId xmlns:a16="http://schemas.microsoft.com/office/drawing/2014/main" id="{1CA9D988-285C-72A0-50A1-1E15C707579B}"/>
              </a:ext>
            </a:extLst>
          </p:cNvPr>
          <p:cNvSpPr/>
          <p:nvPr/>
        </p:nvSpPr>
        <p:spPr>
          <a:xfrm rot="5400000">
            <a:off x="8031907" y="19550055"/>
            <a:ext cx="118953" cy="262925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7DF526-48F2-CB5F-188F-CA5869EA2474}"/>
              </a:ext>
            </a:extLst>
          </p:cNvPr>
          <p:cNvSpPr txBox="1"/>
          <p:nvPr/>
        </p:nvSpPr>
        <p:spPr>
          <a:xfrm>
            <a:off x="6754091" y="14391409"/>
            <a:ext cx="514678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venir Book" panose="02000503020000020003" pitchFamily="2" charset="0"/>
              </a:rPr>
              <a:t>2. Language effect tests with two approaches: prompts and </a:t>
            </a:r>
            <a:r>
              <a:rPr lang="en-US" dirty="0" err="1">
                <a:latin typeface="Avenir Book" panose="02000503020000020003" pitchFamily="2" charset="0"/>
              </a:rPr>
              <a:t>CoT</a:t>
            </a:r>
            <a:r>
              <a:rPr lang="en-US" dirty="0">
                <a:latin typeface="Avenir Book" panose="02000503020000020003" pitchFamily="2" charset="0"/>
              </a:rPr>
              <a:t> in EN, ZH, and JA. </a:t>
            </a:r>
          </a:p>
          <a:p>
            <a:r>
              <a:rPr lang="en-US" i="1" dirty="0">
                <a:latin typeface="Avenir Book" panose="02000503020000020003" pitchFamily="2" charset="0"/>
              </a:rPr>
              <a:t>Across three languages, the moral judgement for misinformation stays the same, only KIMI K3(a new flagship Chinese model) shows higher tolerance when prompting in Chinese. </a:t>
            </a:r>
          </a:p>
          <a:p>
            <a:r>
              <a:rPr lang="en-US" i="1" dirty="0">
                <a:latin typeface="Avenir Book" panose="02000503020000020003" pitchFamily="2" charset="0"/>
              </a:rPr>
              <a:t>All models reason in English in default, even though guide them to use other languages to reason, they would still use English for reasoning.</a:t>
            </a:r>
          </a:p>
          <a:p>
            <a:r>
              <a:rPr lang="en-US" i="1" dirty="0">
                <a:latin typeface="Avenir Book" panose="02000503020000020003" pitchFamily="2" charset="0"/>
              </a:rPr>
              <a:t>In the intermediate layer the models should all use English for processing, thus their results are the same.</a:t>
            </a:r>
          </a:p>
        </p:txBody>
      </p:sp>
    </p:spTree>
    <p:extLst>
      <p:ext uri="{BB962C8B-B14F-4D97-AF65-F5344CB8AC3E}">
        <p14:creationId xmlns:p14="http://schemas.microsoft.com/office/powerpoint/2010/main" val="3932567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1005</TotalTime>
  <Words>194</Words>
  <Application>Microsoft Macintosh PowerPoint</Application>
  <PresentationFormat>Custom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Anthropic Sans</vt:lpstr>
      <vt:lpstr>Aptos</vt:lpstr>
      <vt:lpstr>Aptos Display</vt:lpstr>
      <vt:lpstr>Arial</vt:lpstr>
      <vt:lpstr>Avenir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Baihui Wang</dc:creator>
  <cp:lastModifiedBy>Baihui Wang</cp:lastModifiedBy>
  <cp:revision>1</cp:revision>
  <dcterms:created xsi:type="dcterms:W3CDTF">2026-07-23T00:38:56Z</dcterms:created>
  <dcterms:modified xsi:type="dcterms:W3CDTF">2026-07-23T17:24:05Z</dcterms:modified>
</cp:coreProperties>
</file>