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3"/>
  </p:notesMasterIdLst>
  <p:sldIdLst>
    <p:sldId id="256" r:id="rId2"/>
  </p:sldIdLst>
  <p:sldSz cx="12192000" cy="144176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541"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75"/>
    <p:restoredTop sz="94695"/>
  </p:normalViewPr>
  <p:slideViewPr>
    <p:cSldViewPr snapToGrid="0" showGuides="1">
      <p:cViewPr>
        <p:scale>
          <a:sx n="140" d="100"/>
          <a:sy n="140" d="100"/>
        </p:scale>
        <p:origin x="1144" y="-6240"/>
      </p:cViewPr>
      <p:guideLst>
        <p:guide orient="horz" pos="4541"/>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DE3B95-5D19-EA4B-8A73-C4E117C5F36A}" type="datetimeFigureOut">
              <a:rPr lang="en-US" smtClean="0"/>
              <a:t>7/18/26</a:t>
            </a:fld>
            <a:endParaRPr lang="en-US"/>
          </a:p>
        </p:txBody>
      </p:sp>
      <p:sp>
        <p:nvSpPr>
          <p:cNvPr id="4" name="Slide Image Placeholder 3"/>
          <p:cNvSpPr>
            <a:spLocks noGrp="1" noRot="1" noChangeAspect="1"/>
          </p:cNvSpPr>
          <p:nvPr>
            <p:ph type="sldImg" idx="2"/>
          </p:nvPr>
        </p:nvSpPr>
        <p:spPr>
          <a:xfrm>
            <a:off x="2124075" y="1143000"/>
            <a:ext cx="26098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61587D-82E3-B147-B18E-A100F09DB8FB}" type="slidenum">
              <a:rPr lang="en-US" smtClean="0"/>
              <a:t>‹#›</a:t>
            </a:fld>
            <a:endParaRPr lang="en-US"/>
          </a:p>
        </p:txBody>
      </p:sp>
    </p:spTree>
    <p:extLst>
      <p:ext uri="{BB962C8B-B14F-4D97-AF65-F5344CB8AC3E}">
        <p14:creationId xmlns:p14="http://schemas.microsoft.com/office/powerpoint/2010/main" val="1924053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61587D-82E3-B147-B18E-A100F09DB8FB}" type="slidenum">
              <a:rPr lang="en-US" smtClean="0"/>
              <a:t>1</a:t>
            </a:fld>
            <a:endParaRPr lang="en-US"/>
          </a:p>
        </p:txBody>
      </p:sp>
    </p:spTree>
    <p:extLst>
      <p:ext uri="{BB962C8B-B14F-4D97-AF65-F5344CB8AC3E}">
        <p14:creationId xmlns:p14="http://schemas.microsoft.com/office/powerpoint/2010/main" val="2680905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359560"/>
            <a:ext cx="10363200" cy="5019487"/>
          </a:xfrm>
        </p:spPr>
        <p:txBody>
          <a:bodyPr anchor="b"/>
          <a:lstStyle>
            <a:lvl1pPr algn="ctr">
              <a:defRPr sz="8000"/>
            </a:lvl1pPr>
          </a:lstStyle>
          <a:p>
            <a:r>
              <a:rPr lang="en-GB"/>
              <a:t>Click to edit Master title style</a:t>
            </a:r>
            <a:endParaRPr lang="en-US" dirty="0"/>
          </a:p>
        </p:txBody>
      </p:sp>
      <p:sp>
        <p:nvSpPr>
          <p:cNvPr id="3" name="Subtitle 2"/>
          <p:cNvSpPr>
            <a:spLocks noGrp="1"/>
          </p:cNvSpPr>
          <p:nvPr>
            <p:ph type="subTitle" idx="1"/>
          </p:nvPr>
        </p:nvSpPr>
        <p:spPr>
          <a:xfrm>
            <a:off x="1524000" y="7572618"/>
            <a:ext cx="9144000" cy="348093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5CB2919A-EDEB-8049-A43D-84F715BF06B1}" type="datetimeFigureOut">
              <a:rPr lang="en-US" smtClean="0"/>
              <a:t>7/18/26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6BE961-A921-2441-9EA2-E045930FE93C}" type="slidenum">
              <a:rPr lang="en-US" smtClean="0"/>
              <a:t>‹#›</a:t>
            </a:fld>
            <a:endParaRPr lang="en-US"/>
          </a:p>
        </p:txBody>
      </p:sp>
    </p:spTree>
    <p:extLst>
      <p:ext uri="{BB962C8B-B14F-4D97-AF65-F5344CB8AC3E}">
        <p14:creationId xmlns:p14="http://schemas.microsoft.com/office/powerpoint/2010/main" val="3566737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CB2919A-EDEB-8049-A43D-84F715BF06B1}" type="datetimeFigureOut">
              <a:rPr lang="en-US" smtClean="0"/>
              <a:t>7/18/26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6BE961-A921-2441-9EA2-E045930FE93C}" type="slidenum">
              <a:rPr lang="en-US" smtClean="0"/>
              <a:t>‹#›</a:t>
            </a:fld>
            <a:endParaRPr lang="en-US"/>
          </a:p>
        </p:txBody>
      </p:sp>
    </p:spTree>
    <p:extLst>
      <p:ext uri="{BB962C8B-B14F-4D97-AF65-F5344CB8AC3E}">
        <p14:creationId xmlns:p14="http://schemas.microsoft.com/office/powerpoint/2010/main" val="3997239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3594411"/>
            <a:ext cx="10515600" cy="5997351"/>
          </a:xfrm>
        </p:spPr>
        <p:txBody>
          <a:bodyPr anchor="b"/>
          <a:lstStyle>
            <a:lvl1pPr>
              <a:defRPr sz="8000"/>
            </a:lvl1pPr>
          </a:lstStyle>
          <a:p>
            <a:r>
              <a:rPr lang="en-GB"/>
              <a:t>Click to edit Master title style</a:t>
            </a:r>
            <a:endParaRPr lang="en-US" dirty="0"/>
          </a:p>
        </p:txBody>
      </p:sp>
      <p:sp>
        <p:nvSpPr>
          <p:cNvPr id="3" name="Text Placeholder 2"/>
          <p:cNvSpPr>
            <a:spLocks noGrp="1"/>
          </p:cNvSpPr>
          <p:nvPr>
            <p:ph type="body" idx="1"/>
          </p:nvPr>
        </p:nvSpPr>
        <p:spPr>
          <a:xfrm>
            <a:off x="831851" y="9648499"/>
            <a:ext cx="10515600" cy="3153865"/>
          </a:xfrm>
        </p:spPr>
        <p:txBody>
          <a:bodyPr/>
          <a:lstStyle>
            <a:lvl1pPr marL="0" indent="0">
              <a:buNone/>
              <a:defRPr sz="3200">
                <a:solidFill>
                  <a:schemeClr val="tx1">
                    <a:tint val="82000"/>
                  </a:schemeClr>
                </a:solidFill>
              </a:defRPr>
            </a:lvl1pPr>
            <a:lvl2pPr marL="609585" indent="0">
              <a:buNone/>
              <a:defRPr sz="2667">
                <a:solidFill>
                  <a:schemeClr val="tx1">
                    <a:tint val="82000"/>
                  </a:schemeClr>
                </a:solidFill>
              </a:defRPr>
            </a:lvl2pPr>
            <a:lvl3pPr marL="1219170" indent="0">
              <a:buNone/>
              <a:defRPr sz="2400">
                <a:solidFill>
                  <a:schemeClr val="tx1">
                    <a:tint val="82000"/>
                  </a:schemeClr>
                </a:solidFill>
              </a:defRPr>
            </a:lvl3pPr>
            <a:lvl4pPr marL="1828754" indent="0">
              <a:buNone/>
              <a:defRPr sz="2133">
                <a:solidFill>
                  <a:schemeClr val="tx1">
                    <a:tint val="82000"/>
                  </a:schemeClr>
                </a:solidFill>
              </a:defRPr>
            </a:lvl4pPr>
            <a:lvl5pPr marL="2438339" indent="0">
              <a:buNone/>
              <a:defRPr sz="2133">
                <a:solidFill>
                  <a:schemeClr val="tx1">
                    <a:tint val="82000"/>
                  </a:schemeClr>
                </a:solidFill>
              </a:defRPr>
            </a:lvl5pPr>
            <a:lvl6pPr marL="3047924" indent="0">
              <a:buNone/>
              <a:defRPr sz="2133">
                <a:solidFill>
                  <a:schemeClr val="tx1">
                    <a:tint val="82000"/>
                  </a:schemeClr>
                </a:solidFill>
              </a:defRPr>
            </a:lvl6pPr>
            <a:lvl7pPr marL="3657509" indent="0">
              <a:buNone/>
              <a:defRPr sz="2133">
                <a:solidFill>
                  <a:schemeClr val="tx1">
                    <a:tint val="82000"/>
                  </a:schemeClr>
                </a:solidFill>
              </a:defRPr>
            </a:lvl7pPr>
            <a:lvl8pPr marL="4267093" indent="0">
              <a:buNone/>
              <a:defRPr sz="2133">
                <a:solidFill>
                  <a:schemeClr val="tx1">
                    <a:tint val="82000"/>
                  </a:schemeClr>
                </a:solidFill>
              </a:defRPr>
            </a:lvl8pPr>
            <a:lvl9pPr marL="4876678" indent="0">
              <a:buNone/>
              <a:defRPr sz="2133">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CB2919A-EDEB-8049-A43D-84F715BF06B1}" type="datetimeFigureOut">
              <a:rPr lang="en-US" smtClean="0"/>
              <a:t>7/18/26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6BE961-A921-2441-9EA2-E045930FE93C}" type="slidenum">
              <a:rPr lang="en-US" smtClean="0"/>
              <a:t>‹#›</a:t>
            </a:fld>
            <a:endParaRPr lang="en-US"/>
          </a:p>
        </p:txBody>
      </p:sp>
    </p:spTree>
    <p:extLst>
      <p:ext uri="{BB962C8B-B14F-4D97-AF65-F5344CB8AC3E}">
        <p14:creationId xmlns:p14="http://schemas.microsoft.com/office/powerpoint/2010/main" val="3696208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3838039"/>
            <a:ext cx="5181600" cy="91478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3838039"/>
            <a:ext cx="5181600" cy="91478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5CB2919A-EDEB-8049-A43D-84F715BF06B1}" type="datetimeFigureOut">
              <a:rPr lang="en-US" smtClean="0"/>
              <a:t>7/18/26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6BE961-A921-2441-9EA2-E045930FE93C}" type="slidenum">
              <a:rPr lang="en-US" smtClean="0"/>
              <a:t>‹#›</a:t>
            </a:fld>
            <a:endParaRPr lang="en-US"/>
          </a:p>
        </p:txBody>
      </p:sp>
    </p:spTree>
    <p:extLst>
      <p:ext uri="{BB962C8B-B14F-4D97-AF65-F5344CB8AC3E}">
        <p14:creationId xmlns:p14="http://schemas.microsoft.com/office/powerpoint/2010/main" val="4141238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767611"/>
            <a:ext cx="10515600" cy="2786751"/>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9" y="3534334"/>
            <a:ext cx="5157787" cy="1732122"/>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GB"/>
              <a:t>Click to edit Master text styles</a:t>
            </a:r>
          </a:p>
        </p:txBody>
      </p:sp>
      <p:sp>
        <p:nvSpPr>
          <p:cNvPr id="4" name="Content Placeholder 3"/>
          <p:cNvSpPr>
            <a:spLocks noGrp="1"/>
          </p:cNvSpPr>
          <p:nvPr>
            <p:ph sz="half" idx="2"/>
          </p:nvPr>
        </p:nvSpPr>
        <p:spPr>
          <a:xfrm>
            <a:off x="839789" y="5266456"/>
            <a:ext cx="5157787" cy="774616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1" y="3534334"/>
            <a:ext cx="5183188" cy="1732122"/>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GB"/>
              <a:t>Click to edit Master text styles</a:t>
            </a:r>
          </a:p>
        </p:txBody>
      </p:sp>
      <p:sp>
        <p:nvSpPr>
          <p:cNvPr id="6" name="Content Placeholder 5"/>
          <p:cNvSpPr>
            <a:spLocks noGrp="1"/>
          </p:cNvSpPr>
          <p:nvPr>
            <p:ph sz="quarter" idx="4"/>
          </p:nvPr>
        </p:nvSpPr>
        <p:spPr>
          <a:xfrm>
            <a:off x="6172201" y="5266456"/>
            <a:ext cx="5183188" cy="774616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CB2919A-EDEB-8049-A43D-84F715BF06B1}" type="datetimeFigureOut">
              <a:rPr lang="en-US" smtClean="0"/>
              <a:t>7/18/26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6BE961-A921-2441-9EA2-E045930FE93C}" type="slidenum">
              <a:rPr lang="en-US" smtClean="0"/>
              <a:t>‹#›</a:t>
            </a:fld>
            <a:endParaRPr lang="en-US"/>
          </a:p>
        </p:txBody>
      </p:sp>
    </p:spTree>
    <p:extLst>
      <p:ext uri="{BB962C8B-B14F-4D97-AF65-F5344CB8AC3E}">
        <p14:creationId xmlns:p14="http://schemas.microsoft.com/office/powerpoint/2010/main" val="100689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CB2919A-EDEB-8049-A43D-84F715BF06B1}" type="datetimeFigureOut">
              <a:rPr lang="en-US" smtClean="0"/>
              <a:t>7/18/26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6BE961-A921-2441-9EA2-E045930FE93C}" type="slidenum">
              <a:rPr lang="en-US" smtClean="0"/>
              <a:t>‹#›</a:t>
            </a:fld>
            <a:endParaRPr lang="en-US"/>
          </a:p>
        </p:txBody>
      </p:sp>
    </p:spTree>
    <p:extLst>
      <p:ext uri="{BB962C8B-B14F-4D97-AF65-F5344CB8AC3E}">
        <p14:creationId xmlns:p14="http://schemas.microsoft.com/office/powerpoint/2010/main" val="2757869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B2919A-EDEB-8049-A43D-84F715BF06B1}" type="datetimeFigureOut">
              <a:rPr lang="en-US" smtClean="0"/>
              <a:t>7/18/26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6BE961-A921-2441-9EA2-E045930FE93C}" type="slidenum">
              <a:rPr lang="en-US" smtClean="0"/>
              <a:t>‹#›</a:t>
            </a:fld>
            <a:endParaRPr lang="en-US"/>
          </a:p>
        </p:txBody>
      </p:sp>
    </p:spTree>
    <p:extLst>
      <p:ext uri="{BB962C8B-B14F-4D97-AF65-F5344CB8AC3E}">
        <p14:creationId xmlns:p14="http://schemas.microsoft.com/office/powerpoint/2010/main" val="2071630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961178"/>
            <a:ext cx="3932237" cy="3364124"/>
          </a:xfrm>
        </p:spPr>
        <p:txBody>
          <a:bodyPr anchor="b"/>
          <a:lstStyle>
            <a:lvl1pPr>
              <a:defRPr sz="4267"/>
            </a:lvl1pPr>
          </a:lstStyle>
          <a:p>
            <a:r>
              <a:rPr lang="en-GB"/>
              <a:t>Click to edit Master title style</a:t>
            </a:r>
            <a:endParaRPr lang="en-US" dirty="0"/>
          </a:p>
        </p:txBody>
      </p:sp>
      <p:sp>
        <p:nvSpPr>
          <p:cNvPr id="3" name="Content Placeholder 2"/>
          <p:cNvSpPr>
            <a:spLocks noGrp="1"/>
          </p:cNvSpPr>
          <p:nvPr>
            <p:ph idx="1"/>
          </p:nvPr>
        </p:nvSpPr>
        <p:spPr>
          <a:xfrm>
            <a:off x="5183188" y="2075881"/>
            <a:ext cx="6172200" cy="10245894"/>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4325302"/>
            <a:ext cx="3932237" cy="8013158"/>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GB"/>
              <a:t>Click to edit Master text styles</a:t>
            </a:r>
          </a:p>
        </p:txBody>
      </p:sp>
      <p:sp>
        <p:nvSpPr>
          <p:cNvPr id="5" name="Date Placeholder 4"/>
          <p:cNvSpPr>
            <a:spLocks noGrp="1"/>
          </p:cNvSpPr>
          <p:nvPr>
            <p:ph type="dt" sz="half" idx="10"/>
          </p:nvPr>
        </p:nvSpPr>
        <p:spPr/>
        <p:txBody>
          <a:bodyPr/>
          <a:lstStyle/>
          <a:p>
            <a:fld id="{5CB2919A-EDEB-8049-A43D-84F715BF06B1}" type="datetimeFigureOut">
              <a:rPr lang="en-US" smtClean="0"/>
              <a:t>7/18/26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6BE961-A921-2441-9EA2-E045930FE93C}" type="slidenum">
              <a:rPr lang="en-US" smtClean="0"/>
              <a:t>‹#›</a:t>
            </a:fld>
            <a:endParaRPr lang="en-US"/>
          </a:p>
        </p:txBody>
      </p:sp>
    </p:spTree>
    <p:extLst>
      <p:ext uri="{BB962C8B-B14F-4D97-AF65-F5344CB8AC3E}">
        <p14:creationId xmlns:p14="http://schemas.microsoft.com/office/powerpoint/2010/main" val="3513515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961178"/>
            <a:ext cx="3932237" cy="3364124"/>
          </a:xfrm>
        </p:spPr>
        <p:txBody>
          <a:bodyPr anchor="b"/>
          <a:lstStyle>
            <a:lvl1pPr>
              <a:defRPr sz="4267"/>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2075881"/>
            <a:ext cx="6172200" cy="10245894"/>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GB"/>
              <a:t>Click icon to add picture</a:t>
            </a:r>
            <a:endParaRPr lang="en-US" dirty="0"/>
          </a:p>
        </p:txBody>
      </p:sp>
      <p:sp>
        <p:nvSpPr>
          <p:cNvPr id="4" name="Text Placeholder 3"/>
          <p:cNvSpPr>
            <a:spLocks noGrp="1"/>
          </p:cNvSpPr>
          <p:nvPr>
            <p:ph type="body" sz="half" idx="2"/>
          </p:nvPr>
        </p:nvSpPr>
        <p:spPr>
          <a:xfrm>
            <a:off x="839788" y="4325302"/>
            <a:ext cx="3932237" cy="8013158"/>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GB"/>
              <a:t>Click to edit Master text styles</a:t>
            </a:r>
          </a:p>
        </p:txBody>
      </p:sp>
      <p:sp>
        <p:nvSpPr>
          <p:cNvPr id="5" name="Date Placeholder 4"/>
          <p:cNvSpPr>
            <a:spLocks noGrp="1"/>
          </p:cNvSpPr>
          <p:nvPr>
            <p:ph type="dt" sz="half" idx="10"/>
          </p:nvPr>
        </p:nvSpPr>
        <p:spPr/>
        <p:txBody>
          <a:bodyPr/>
          <a:lstStyle/>
          <a:p>
            <a:fld id="{5CB2919A-EDEB-8049-A43D-84F715BF06B1}" type="datetimeFigureOut">
              <a:rPr lang="en-US" smtClean="0"/>
              <a:t>7/18/26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6BE961-A921-2441-9EA2-E045930FE93C}" type="slidenum">
              <a:rPr lang="en-US" smtClean="0"/>
              <a:t>‹#›</a:t>
            </a:fld>
            <a:endParaRPr lang="en-US"/>
          </a:p>
        </p:txBody>
      </p:sp>
    </p:spTree>
    <p:extLst>
      <p:ext uri="{BB962C8B-B14F-4D97-AF65-F5344CB8AC3E}">
        <p14:creationId xmlns:p14="http://schemas.microsoft.com/office/powerpoint/2010/main" val="221128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CB2919A-EDEB-8049-A43D-84F715BF06B1}" type="datetimeFigureOut">
              <a:rPr lang="en-US" smtClean="0"/>
              <a:t>7/18/26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6BE961-A921-2441-9EA2-E045930FE93C}" type="slidenum">
              <a:rPr lang="en-US" smtClean="0"/>
              <a:t>‹#›</a:t>
            </a:fld>
            <a:endParaRPr lang="en-US"/>
          </a:p>
        </p:txBody>
      </p:sp>
    </p:spTree>
    <p:extLst>
      <p:ext uri="{BB962C8B-B14F-4D97-AF65-F5344CB8AC3E}">
        <p14:creationId xmlns:p14="http://schemas.microsoft.com/office/powerpoint/2010/main" val="1324989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7608"/>
            <a:ext cx="2628900" cy="12218313"/>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1" y="767608"/>
            <a:ext cx="7734300" cy="12218313"/>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CB2919A-EDEB-8049-A43D-84F715BF06B1}" type="datetimeFigureOut">
              <a:rPr lang="en-US" smtClean="0"/>
              <a:t>7/18/26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6BE961-A921-2441-9EA2-E045930FE93C}" type="slidenum">
              <a:rPr lang="en-US" smtClean="0"/>
              <a:t>‹#›</a:t>
            </a:fld>
            <a:endParaRPr lang="en-US"/>
          </a:p>
        </p:txBody>
      </p:sp>
    </p:spTree>
    <p:extLst>
      <p:ext uri="{BB962C8B-B14F-4D97-AF65-F5344CB8AC3E}">
        <p14:creationId xmlns:p14="http://schemas.microsoft.com/office/powerpoint/2010/main" val="263079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767611"/>
            <a:ext cx="10515600" cy="2786751"/>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3838039"/>
            <a:ext cx="10515600" cy="914788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13363052"/>
            <a:ext cx="2743200" cy="767608"/>
          </a:xfrm>
          <a:prstGeom prst="rect">
            <a:avLst/>
          </a:prstGeom>
        </p:spPr>
        <p:txBody>
          <a:bodyPr vert="horz" lIns="91440" tIns="45720" rIns="91440" bIns="45720" rtlCol="0" anchor="ctr"/>
          <a:lstStyle>
            <a:lvl1pPr algn="l">
              <a:defRPr sz="1600">
                <a:solidFill>
                  <a:schemeClr val="tx1">
                    <a:tint val="82000"/>
                  </a:schemeClr>
                </a:solidFill>
              </a:defRPr>
            </a:lvl1pPr>
          </a:lstStyle>
          <a:p>
            <a:fld id="{5CB2919A-EDEB-8049-A43D-84F715BF06B1}" type="datetimeFigureOut">
              <a:rPr lang="en-US" smtClean="0"/>
              <a:t>7/18/26</a:t>
            </a:fld>
            <a:endParaRPr lang="en-US"/>
          </a:p>
        </p:txBody>
      </p:sp>
      <p:sp>
        <p:nvSpPr>
          <p:cNvPr id="5" name="Footer Placeholder 4"/>
          <p:cNvSpPr>
            <a:spLocks noGrp="1"/>
          </p:cNvSpPr>
          <p:nvPr>
            <p:ph type="ftr" sz="quarter" idx="3"/>
          </p:nvPr>
        </p:nvSpPr>
        <p:spPr>
          <a:xfrm>
            <a:off x="4038600" y="13363052"/>
            <a:ext cx="4114800" cy="767608"/>
          </a:xfrm>
          <a:prstGeom prst="rect">
            <a:avLst/>
          </a:prstGeom>
        </p:spPr>
        <p:txBody>
          <a:bodyPr vert="horz" lIns="91440" tIns="45720" rIns="91440" bIns="45720" rtlCol="0" anchor="ctr"/>
          <a:lstStyle>
            <a:lvl1pPr algn="ctr">
              <a:defRPr sz="16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13363052"/>
            <a:ext cx="2743200" cy="767608"/>
          </a:xfrm>
          <a:prstGeom prst="rect">
            <a:avLst/>
          </a:prstGeom>
        </p:spPr>
        <p:txBody>
          <a:bodyPr vert="horz" lIns="91440" tIns="45720" rIns="91440" bIns="45720" rtlCol="0" anchor="ctr"/>
          <a:lstStyle>
            <a:lvl1pPr algn="r">
              <a:defRPr sz="1600">
                <a:solidFill>
                  <a:schemeClr val="tx1">
                    <a:tint val="82000"/>
                  </a:schemeClr>
                </a:solidFill>
              </a:defRPr>
            </a:lvl1pPr>
          </a:lstStyle>
          <a:p>
            <a:fld id="{C86BE961-A921-2441-9EA2-E045930FE93C}" type="slidenum">
              <a:rPr lang="en-US" smtClean="0"/>
              <a:t>‹#›</a:t>
            </a:fld>
            <a:endParaRPr lang="en-US"/>
          </a:p>
        </p:txBody>
      </p:sp>
    </p:spTree>
    <p:extLst>
      <p:ext uri="{BB962C8B-B14F-4D97-AF65-F5344CB8AC3E}">
        <p14:creationId xmlns:p14="http://schemas.microsoft.com/office/powerpoint/2010/main" val="77003945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310E13-6A4B-E89D-3B58-0FFF647ABFDB}"/>
              </a:ext>
            </a:extLst>
          </p:cNvPr>
          <p:cNvPicPr>
            <a:picLocks noChangeAspect="1"/>
          </p:cNvPicPr>
          <p:nvPr/>
        </p:nvPicPr>
        <p:blipFill>
          <a:blip r:embed="rId3"/>
          <a:srcRect l="9417" t="9890"/>
          <a:stretch>
            <a:fillRect/>
          </a:stretch>
        </p:blipFill>
        <p:spPr>
          <a:xfrm>
            <a:off x="4272168" y="2137628"/>
            <a:ext cx="3374877" cy="3600091"/>
          </a:xfrm>
          <a:prstGeom prst="rect">
            <a:avLst/>
          </a:prstGeom>
          <a:ln>
            <a:solidFill>
              <a:schemeClr val="tx1"/>
            </a:solidFill>
          </a:ln>
        </p:spPr>
      </p:pic>
      <p:sp>
        <p:nvSpPr>
          <p:cNvPr id="6" name="TextBox 5">
            <a:extLst>
              <a:ext uri="{FF2B5EF4-FFF2-40B4-BE49-F238E27FC236}">
                <a16:creationId xmlns:a16="http://schemas.microsoft.com/office/drawing/2014/main" id="{2DD8143C-20E8-0C58-CC84-1B64F00FBE62}"/>
              </a:ext>
            </a:extLst>
          </p:cNvPr>
          <p:cNvSpPr txBox="1"/>
          <p:nvPr/>
        </p:nvSpPr>
        <p:spPr>
          <a:xfrm rot="16200000">
            <a:off x="3513707" y="2933556"/>
            <a:ext cx="865351" cy="215444"/>
          </a:xfrm>
          <a:prstGeom prst="rect">
            <a:avLst/>
          </a:prstGeom>
          <a:noFill/>
        </p:spPr>
        <p:txBody>
          <a:bodyPr wrap="square" rtlCol="0">
            <a:spAutoFit/>
          </a:bodyPr>
          <a:lstStyle/>
          <a:p>
            <a:r>
              <a:rPr lang="en-US" sz="800" b="1" dirty="0"/>
              <a:t>Search arm</a:t>
            </a:r>
          </a:p>
        </p:txBody>
      </p:sp>
      <p:graphicFrame>
        <p:nvGraphicFramePr>
          <p:cNvPr id="8" name="Table 7">
            <a:extLst>
              <a:ext uri="{FF2B5EF4-FFF2-40B4-BE49-F238E27FC236}">
                <a16:creationId xmlns:a16="http://schemas.microsoft.com/office/drawing/2014/main" id="{99F94393-C230-AE03-0D91-B596BCE2E388}"/>
              </a:ext>
            </a:extLst>
          </p:cNvPr>
          <p:cNvGraphicFramePr>
            <a:graphicFrameLocks noGrp="1"/>
          </p:cNvGraphicFramePr>
          <p:nvPr>
            <p:extLst>
              <p:ext uri="{D42A27DB-BD31-4B8C-83A1-F6EECF244321}">
                <p14:modId xmlns:p14="http://schemas.microsoft.com/office/powerpoint/2010/main" val="798587090"/>
              </p:ext>
            </p:extLst>
          </p:nvPr>
        </p:nvGraphicFramePr>
        <p:xfrm>
          <a:off x="3810331" y="6426727"/>
          <a:ext cx="4638727" cy="1044856"/>
        </p:xfrm>
        <a:graphic>
          <a:graphicData uri="http://schemas.openxmlformats.org/drawingml/2006/table">
            <a:tbl>
              <a:tblPr/>
              <a:tblGrid>
                <a:gridCol w="696166">
                  <a:extLst>
                    <a:ext uri="{9D8B030D-6E8A-4147-A177-3AD203B41FA5}">
                      <a16:colId xmlns:a16="http://schemas.microsoft.com/office/drawing/2014/main" val="1589631672"/>
                    </a:ext>
                  </a:extLst>
                </a:gridCol>
                <a:gridCol w="1313691">
                  <a:extLst>
                    <a:ext uri="{9D8B030D-6E8A-4147-A177-3AD203B41FA5}">
                      <a16:colId xmlns:a16="http://schemas.microsoft.com/office/drawing/2014/main" val="2797895771"/>
                    </a:ext>
                  </a:extLst>
                </a:gridCol>
                <a:gridCol w="1387261">
                  <a:extLst>
                    <a:ext uri="{9D8B030D-6E8A-4147-A177-3AD203B41FA5}">
                      <a16:colId xmlns:a16="http://schemas.microsoft.com/office/drawing/2014/main" val="1682725711"/>
                    </a:ext>
                  </a:extLst>
                </a:gridCol>
                <a:gridCol w="1241609">
                  <a:extLst>
                    <a:ext uri="{9D8B030D-6E8A-4147-A177-3AD203B41FA5}">
                      <a16:colId xmlns:a16="http://schemas.microsoft.com/office/drawing/2014/main" val="3844715624"/>
                    </a:ext>
                  </a:extLst>
                </a:gridCol>
              </a:tblGrid>
              <a:tr h="162342">
                <a:tc>
                  <a:txBody>
                    <a:bodyPr/>
                    <a:lstStyle/>
                    <a:p>
                      <a:pPr marL="0" marR="0" indent="0" algn="l" fontAlgn="t">
                        <a:buNone/>
                      </a:pPr>
                      <a:r>
                        <a:rPr lang="en-AU" sz="900" b="0" i="0" dirty="0">
                          <a:solidFill>
                            <a:srgbClr val="0A0A0A"/>
                          </a:solidFill>
                          <a:effectLst/>
                          <a:latin typeface="Anthropic Sans"/>
                        </a:rPr>
                        <a:t>Condition</a:t>
                      </a:r>
                    </a:p>
                  </a:txBody>
                  <a:tcPr marL="57150" marR="57150" marT="57150" marB="57150">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indent="0" algn="l" fontAlgn="t">
                        <a:buNone/>
                      </a:pPr>
                      <a:r>
                        <a:rPr lang="en-AU" sz="900" b="0" i="0">
                          <a:solidFill>
                            <a:srgbClr val="0A0A0A"/>
                          </a:solidFill>
                          <a:effectLst/>
                          <a:latin typeface="Anthropic Sans"/>
                        </a:rPr>
                        <a:t>U ~ GIST</a:t>
                      </a:r>
                    </a:p>
                  </a:txBody>
                  <a:tcPr marL="57150" marR="57150" marT="57150" marB="57150">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indent="0" algn="l" fontAlgn="t">
                        <a:buNone/>
                      </a:pPr>
                      <a:r>
                        <a:rPr lang="en-AU" sz="900" b="0" i="0" dirty="0">
                          <a:solidFill>
                            <a:srgbClr val="0A0A0A"/>
                          </a:solidFill>
                          <a:effectLst/>
                          <a:latin typeface="Anthropic Sans"/>
                        </a:rPr>
                        <a:t>U ~ VERBATIM</a:t>
                      </a:r>
                    </a:p>
                  </a:txBody>
                  <a:tcPr marL="57150" marR="57150" marT="57150" marB="57150">
                    <a:lnL>
                      <a:noFill/>
                    </a:lnL>
                    <a:lnR w="12700" cmpd="sng">
                      <a:noFill/>
                      <a:prstDash val="solid"/>
                    </a:lnR>
                    <a:lnT w="12700" cmpd="sng">
                      <a:noFill/>
                      <a:prstDash val="soli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marR="0" indent="0" algn="l" fontAlgn="t">
                        <a:buNone/>
                      </a:pPr>
                      <a:r>
                        <a:rPr lang="en-AU" sz="900" b="0" i="0" dirty="0">
                          <a:solidFill>
                            <a:srgbClr val="0A0A0A"/>
                          </a:solidFill>
                          <a:effectLst/>
                          <a:latin typeface="Anthropic Sans"/>
                        </a:rPr>
                        <a:t>Steiger/MRR</a:t>
                      </a:r>
                    </a:p>
                  </a:txBody>
                  <a:tcPr marL="57150" marR="57150" marT="57150" marB="57150">
                    <a:lnL>
                      <a:noFill/>
                    </a:lnL>
                    <a:lnR w="12700" cmpd="sng">
                      <a:noFill/>
                      <a:prstDash val="solid"/>
                    </a:lnR>
                    <a:lnT w="12700" cmpd="sng">
                      <a:noFill/>
                      <a:prstDash val="soli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571026421"/>
                  </a:ext>
                </a:extLst>
              </a:tr>
              <a:tr h="396698">
                <a:tc>
                  <a:txBody>
                    <a:bodyPr/>
                    <a:lstStyle/>
                    <a:p>
                      <a:pPr marL="0" marR="0" indent="0" algn="l" fontAlgn="t">
                        <a:buNone/>
                      </a:pPr>
                      <a:r>
                        <a:rPr lang="en-AU" sz="900" b="0" i="0" dirty="0">
                          <a:solidFill>
                            <a:srgbClr val="0A0A0A"/>
                          </a:solidFill>
                          <a:effectLst/>
                          <a:latin typeface="Anthropic Sans"/>
                        </a:rPr>
                        <a:t>Search arm</a:t>
                      </a:r>
                    </a:p>
                  </a:txBody>
                  <a:tcPr marL="57150" marR="57150" marT="57150" marB="57150">
                    <a:lnL>
                      <a:noFill/>
                    </a:lnL>
                    <a:lnR>
                      <a:noFill/>
                    </a:lnR>
                    <a:lnT w="190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indent="0" algn="l" fontAlgn="t">
                        <a:buNone/>
                      </a:pPr>
                      <a:r>
                        <a:rPr lang="en-AU" sz="900" b="0" i="0">
                          <a:solidFill>
                            <a:srgbClr val="0A0A0A"/>
                          </a:solidFill>
                          <a:effectLst/>
                          <a:latin typeface="Anthropic Sans"/>
                        </a:rPr>
                        <a:t>r = −0.79 [−0.83, −0.74]</a:t>
                      </a:r>
                    </a:p>
                  </a:txBody>
                  <a:tcPr marL="57150" marR="57150" marT="57150" marB="57150">
                    <a:lnL>
                      <a:noFill/>
                    </a:lnL>
                    <a:lnR>
                      <a:noFill/>
                    </a:lnR>
                    <a:lnT w="190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indent="0" algn="l" fontAlgn="t">
                        <a:buNone/>
                      </a:pPr>
                      <a:r>
                        <a:rPr lang="en-AU" sz="900" b="0" i="0">
                          <a:solidFill>
                            <a:srgbClr val="0A0A0A"/>
                          </a:solidFill>
                          <a:effectLst/>
                          <a:latin typeface="Anthropic Sans"/>
                        </a:rPr>
                        <a:t>r = −0.58 [−0.65, −0.50]</a:t>
                      </a:r>
                    </a:p>
                  </a:txBody>
                  <a:tcPr marL="57150" marR="57150" marT="57150" marB="57150">
                    <a:lnL>
                      <a:noFill/>
                    </a:lnL>
                    <a:lnR>
                      <a:noFill/>
                    </a:lnR>
                    <a:lnT w="190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indent="0" algn="l" fontAlgn="t">
                        <a:buNone/>
                      </a:pPr>
                      <a:r>
                        <a:rPr lang="en-AU" sz="900" b="0" i="0" dirty="0">
                          <a:solidFill>
                            <a:srgbClr val="0A0A0A"/>
                          </a:solidFill>
                          <a:effectLst/>
                          <a:latin typeface="Anthropic Sans"/>
                        </a:rPr>
                        <a:t>Z = −6.60, p ≈ 4×10⁻¹¹</a:t>
                      </a:r>
                    </a:p>
                  </a:txBody>
                  <a:tcPr marL="57150" marR="57150" marT="57150" marB="57150">
                    <a:lnL>
                      <a:noFill/>
                    </a:lnL>
                    <a:lnR>
                      <a:noFill/>
                    </a:lnR>
                    <a:lnT w="190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942477061"/>
                  </a:ext>
                </a:extLst>
              </a:tr>
              <a:tr h="396698">
                <a:tc>
                  <a:txBody>
                    <a:bodyPr/>
                    <a:lstStyle/>
                    <a:p>
                      <a:pPr marL="0" marR="0" indent="0" algn="l" fontAlgn="t">
                        <a:buNone/>
                      </a:pPr>
                      <a:r>
                        <a:rPr lang="en-AU" sz="900" b="0" i="0" dirty="0">
                          <a:solidFill>
                            <a:srgbClr val="0A0A0A"/>
                          </a:solidFill>
                          <a:effectLst/>
                          <a:latin typeface="Anthropic Sans"/>
                        </a:rPr>
                        <a:t>Informed background</a:t>
                      </a:r>
                    </a:p>
                  </a:txBody>
                  <a:tcPr marL="57150" marR="57150" marT="57150" marB="57150">
                    <a:lnL>
                      <a:noFill/>
                    </a:lnL>
                    <a:lnR>
                      <a:noFill/>
                    </a:lnR>
                    <a:lnT>
                      <a:noFill/>
                    </a:lnT>
                    <a:lnB>
                      <a:noFill/>
                    </a:lnB>
                    <a:lnTlToBr w="12700" cmpd="sng">
                      <a:noFill/>
                      <a:prstDash val="solid"/>
                    </a:lnTlToBr>
                    <a:lnBlToTr w="12700" cmpd="sng">
                      <a:noFill/>
                      <a:prstDash val="solid"/>
                    </a:lnBlToTr>
                    <a:noFill/>
                  </a:tcPr>
                </a:tc>
                <a:tc>
                  <a:txBody>
                    <a:bodyPr/>
                    <a:lstStyle/>
                    <a:p>
                      <a:pPr marL="0" marR="0" indent="0" algn="l" fontAlgn="t">
                        <a:buNone/>
                      </a:pPr>
                      <a:r>
                        <a:rPr lang="en-AU" sz="900" b="0" i="0">
                          <a:solidFill>
                            <a:srgbClr val="0A0A0A"/>
                          </a:solidFill>
                          <a:effectLst/>
                          <a:latin typeface="Anthropic Sans"/>
                        </a:rPr>
                        <a:t>r = −0.81 [−0.84, −0.76]</a:t>
                      </a:r>
                    </a:p>
                  </a:txBody>
                  <a:tcPr marL="57150" marR="57150" marT="57150" marB="57150">
                    <a:lnL>
                      <a:noFill/>
                    </a:lnL>
                    <a:lnR>
                      <a:noFill/>
                    </a:lnR>
                    <a:lnT>
                      <a:noFill/>
                    </a:lnT>
                    <a:lnB>
                      <a:noFill/>
                    </a:lnB>
                    <a:lnTlToBr w="12700" cmpd="sng">
                      <a:noFill/>
                      <a:prstDash val="solid"/>
                    </a:lnTlToBr>
                    <a:lnBlToTr w="12700" cmpd="sng">
                      <a:noFill/>
                      <a:prstDash val="solid"/>
                    </a:lnBlToTr>
                    <a:noFill/>
                  </a:tcPr>
                </a:tc>
                <a:tc>
                  <a:txBody>
                    <a:bodyPr/>
                    <a:lstStyle/>
                    <a:p>
                      <a:pPr marL="0" marR="0" indent="0" algn="l" fontAlgn="t">
                        <a:buNone/>
                      </a:pPr>
                      <a:r>
                        <a:rPr lang="en-AU" sz="900" b="0" i="0">
                          <a:solidFill>
                            <a:srgbClr val="0A0A0A"/>
                          </a:solidFill>
                          <a:effectLst/>
                          <a:latin typeface="Anthropic Sans"/>
                        </a:rPr>
                        <a:t>r = −0.51 [−0.59, −0.43]</a:t>
                      </a:r>
                    </a:p>
                  </a:txBody>
                  <a:tcPr marL="57150" marR="57150" marT="57150" marB="57150">
                    <a:lnL>
                      <a:noFill/>
                    </a:lnL>
                    <a:lnR>
                      <a:noFill/>
                    </a:lnR>
                    <a:lnT>
                      <a:noFill/>
                    </a:lnT>
                    <a:lnB>
                      <a:noFill/>
                    </a:lnB>
                    <a:lnTlToBr w="12700" cmpd="sng">
                      <a:noFill/>
                      <a:prstDash val="solid"/>
                    </a:lnTlToBr>
                    <a:lnBlToTr w="12700" cmpd="sng">
                      <a:noFill/>
                      <a:prstDash val="solid"/>
                    </a:lnBlToTr>
                    <a:noFill/>
                  </a:tcPr>
                </a:tc>
                <a:tc>
                  <a:txBody>
                    <a:bodyPr/>
                    <a:lstStyle/>
                    <a:p>
                      <a:pPr marL="0" marR="0" indent="0" algn="l" fontAlgn="t">
                        <a:buNone/>
                      </a:pPr>
                      <a:r>
                        <a:rPr lang="en-AU" sz="900" b="0" i="0" dirty="0">
                          <a:solidFill>
                            <a:srgbClr val="0A0A0A"/>
                          </a:solidFill>
                          <a:effectLst/>
                          <a:latin typeface="Anthropic Sans"/>
                        </a:rPr>
                        <a:t>Z = −8.58, p &lt; 10⁻¹⁶</a:t>
                      </a:r>
                    </a:p>
                  </a:txBody>
                  <a:tcPr marL="57150" marR="57150" marT="57150" marB="57150">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71939071"/>
                  </a:ext>
                </a:extLst>
              </a:tr>
            </a:tbl>
          </a:graphicData>
        </a:graphic>
      </p:graphicFrame>
      <p:pic>
        <p:nvPicPr>
          <p:cNvPr id="11" name="Picture 10">
            <a:extLst>
              <a:ext uri="{FF2B5EF4-FFF2-40B4-BE49-F238E27FC236}">
                <a16:creationId xmlns:a16="http://schemas.microsoft.com/office/drawing/2014/main" id="{602341E3-B256-3288-BD25-7BB4E473B730}"/>
              </a:ext>
            </a:extLst>
          </p:cNvPr>
          <p:cNvPicPr>
            <a:picLocks noChangeAspect="1"/>
          </p:cNvPicPr>
          <p:nvPr/>
        </p:nvPicPr>
        <p:blipFill>
          <a:blip r:embed="rId4"/>
          <a:srcRect l="2294" t="17205" r="48069" b="43932"/>
          <a:stretch>
            <a:fillRect/>
          </a:stretch>
        </p:blipFill>
        <p:spPr>
          <a:xfrm>
            <a:off x="811988" y="2748732"/>
            <a:ext cx="2479849" cy="1553292"/>
          </a:xfrm>
          <a:prstGeom prst="rect">
            <a:avLst/>
          </a:prstGeom>
          <a:ln>
            <a:solidFill>
              <a:schemeClr val="tx1"/>
            </a:solidFill>
          </a:ln>
        </p:spPr>
      </p:pic>
      <p:cxnSp>
        <p:nvCxnSpPr>
          <p:cNvPr id="13" name="Straight Connector 12">
            <a:extLst>
              <a:ext uri="{FF2B5EF4-FFF2-40B4-BE49-F238E27FC236}">
                <a16:creationId xmlns:a16="http://schemas.microsoft.com/office/drawing/2014/main" id="{9472D4B9-ADC7-B8BD-56B1-12DBB40FEB38}"/>
              </a:ext>
            </a:extLst>
          </p:cNvPr>
          <p:cNvCxnSpPr>
            <a:cxnSpLocks/>
          </p:cNvCxnSpPr>
          <p:nvPr/>
        </p:nvCxnSpPr>
        <p:spPr>
          <a:xfrm flipH="1">
            <a:off x="811986" y="2137626"/>
            <a:ext cx="3460180" cy="61110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1FC6F68-21D8-CA2C-61B7-31697C6DAF77}"/>
              </a:ext>
            </a:extLst>
          </p:cNvPr>
          <p:cNvCxnSpPr>
            <a:cxnSpLocks/>
          </p:cNvCxnSpPr>
          <p:nvPr/>
        </p:nvCxnSpPr>
        <p:spPr>
          <a:xfrm flipH="1">
            <a:off x="3277200" y="3650158"/>
            <a:ext cx="994966" cy="64310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pic>
        <p:nvPicPr>
          <p:cNvPr id="25" name="Picture 24">
            <a:extLst>
              <a:ext uri="{FF2B5EF4-FFF2-40B4-BE49-F238E27FC236}">
                <a16:creationId xmlns:a16="http://schemas.microsoft.com/office/drawing/2014/main" id="{7D8E9077-0DF7-0AB7-069F-C348E68EB3EA}"/>
              </a:ext>
            </a:extLst>
          </p:cNvPr>
          <p:cNvPicPr>
            <a:picLocks noChangeAspect="1"/>
          </p:cNvPicPr>
          <p:nvPr/>
        </p:nvPicPr>
        <p:blipFill>
          <a:blip r:embed="rId4"/>
          <a:srcRect l="2415" t="56192" r="49397" b="3689"/>
          <a:stretch>
            <a:fillRect/>
          </a:stretch>
        </p:blipFill>
        <p:spPr>
          <a:xfrm>
            <a:off x="768650" y="4732718"/>
            <a:ext cx="2579845" cy="1718218"/>
          </a:xfrm>
          <a:prstGeom prst="rect">
            <a:avLst/>
          </a:prstGeom>
          <a:ln>
            <a:solidFill>
              <a:schemeClr val="tx1"/>
            </a:solidFill>
          </a:ln>
        </p:spPr>
      </p:pic>
      <p:cxnSp>
        <p:nvCxnSpPr>
          <p:cNvPr id="26" name="Straight Connector 25">
            <a:extLst>
              <a:ext uri="{FF2B5EF4-FFF2-40B4-BE49-F238E27FC236}">
                <a16:creationId xmlns:a16="http://schemas.microsoft.com/office/drawing/2014/main" id="{108B64B0-555B-B8AA-3513-39BE89374D64}"/>
              </a:ext>
            </a:extLst>
          </p:cNvPr>
          <p:cNvCxnSpPr>
            <a:cxnSpLocks/>
          </p:cNvCxnSpPr>
          <p:nvPr/>
        </p:nvCxnSpPr>
        <p:spPr>
          <a:xfrm flipH="1">
            <a:off x="3348495" y="5737719"/>
            <a:ext cx="923673" cy="713219"/>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3949A6A-2B1B-277F-2567-C17B40B97CAE}"/>
              </a:ext>
            </a:extLst>
          </p:cNvPr>
          <p:cNvCxnSpPr>
            <a:cxnSpLocks/>
          </p:cNvCxnSpPr>
          <p:nvPr/>
        </p:nvCxnSpPr>
        <p:spPr>
          <a:xfrm flipH="1" flipV="1">
            <a:off x="7647045" y="2137628"/>
            <a:ext cx="923673" cy="151955"/>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A91BB9F5-486C-7B55-5775-005B3A0AFC09}"/>
              </a:ext>
            </a:extLst>
          </p:cNvPr>
          <p:cNvCxnSpPr>
            <a:cxnSpLocks/>
          </p:cNvCxnSpPr>
          <p:nvPr/>
        </p:nvCxnSpPr>
        <p:spPr>
          <a:xfrm flipH="1">
            <a:off x="768650" y="4335111"/>
            <a:ext cx="3460867" cy="38196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0FF6913-030C-A8BE-C164-CCD6C4CCD68B}"/>
              </a:ext>
            </a:extLst>
          </p:cNvPr>
          <p:cNvSpPr txBox="1"/>
          <p:nvPr/>
        </p:nvSpPr>
        <p:spPr>
          <a:xfrm rot="16200000">
            <a:off x="3338992" y="4624997"/>
            <a:ext cx="1214778" cy="215444"/>
          </a:xfrm>
          <a:prstGeom prst="rect">
            <a:avLst/>
          </a:prstGeom>
          <a:noFill/>
        </p:spPr>
        <p:txBody>
          <a:bodyPr wrap="square" rtlCol="0">
            <a:spAutoFit/>
          </a:bodyPr>
          <a:lstStyle/>
          <a:p>
            <a:r>
              <a:rPr lang="en-US" sz="800" b="1" dirty="0"/>
              <a:t>Informed ground truth</a:t>
            </a:r>
          </a:p>
        </p:txBody>
      </p:sp>
      <p:pic>
        <p:nvPicPr>
          <p:cNvPr id="42" name="Picture 41">
            <a:extLst>
              <a:ext uri="{FF2B5EF4-FFF2-40B4-BE49-F238E27FC236}">
                <a16:creationId xmlns:a16="http://schemas.microsoft.com/office/drawing/2014/main" id="{76DF13F9-67BA-5C22-9F88-B20016947827}"/>
              </a:ext>
            </a:extLst>
          </p:cNvPr>
          <p:cNvPicPr>
            <a:picLocks noChangeAspect="1"/>
          </p:cNvPicPr>
          <p:nvPr/>
        </p:nvPicPr>
        <p:blipFill>
          <a:blip r:embed="rId4"/>
          <a:srcRect l="50698" t="17251" r="2996" b="44161"/>
          <a:stretch>
            <a:fillRect/>
          </a:stretch>
        </p:blipFill>
        <p:spPr>
          <a:xfrm>
            <a:off x="8570718" y="2289583"/>
            <a:ext cx="2523187" cy="1682125"/>
          </a:xfrm>
          <a:prstGeom prst="rect">
            <a:avLst/>
          </a:prstGeom>
          <a:ln>
            <a:solidFill>
              <a:schemeClr val="tx1"/>
            </a:solidFill>
          </a:ln>
        </p:spPr>
      </p:pic>
      <p:cxnSp>
        <p:nvCxnSpPr>
          <p:cNvPr id="45" name="Straight Connector 44">
            <a:extLst>
              <a:ext uri="{FF2B5EF4-FFF2-40B4-BE49-F238E27FC236}">
                <a16:creationId xmlns:a16="http://schemas.microsoft.com/office/drawing/2014/main" id="{C321D4CF-A003-73CD-3B87-CAC3CFCECB95}"/>
              </a:ext>
            </a:extLst>
          </p:cNvPr>
          <p:cNvCxnSpPr>
            <a:cxnSpLocks/>
          </p:cNvCxnSpPr>
          <p:nvPr/>
        </p:nvCxnSpPr>
        <p:spPr>
          <a:xfrm flipH="1" flipV="1">
            <a:off x="7643387" y="3525378"/>
            <a:ext cx="927331" cy="446328"/>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pic>
        <p:nvPicPr>
          <p:cNvPr id="52" name="Picture 51">
            <a:extLst>
              <a:ext uri="{FF2B5EF4-FFF2-40B4-BE49-F238E27FC236}">
                <a16:creationId xmlns:a16="http://schemas.microsoft.com/office/drawing/2014/main" id="{283B35CC-DE48-1D08-ED20-8268D92A591D}"/>
              </a:ext>
            </a:extLst>
          </p:cNvPr>
          <p:cNvPicPr>
            <a:picLocks noChangeAspect="1"/>
          </p:cNvPicPr>
          <p:nvPr/>
        </p:nvPicPr>
        <p:blipFill>
          <a:blip r:embed="rId4"/>
          <a:srcRect l="50510" t="55927" r="2882" b="3367"/>
          <a:stretch>
            <a:fillRect/>
          </a:stretch>
        </p:blipFill>
        <p:spPr>
          <a:xfrm>
            <a:off x="8613369" y="4626368"/>
            <a:ext cx="2536507" cy="1772266"/>
          </a:xfrm>
          <a:prstGeom prst="rect">
            <a:avLst/>
          </a:prstGeom>
          <a:ln>
            <a:solidFill>
              <a:schemeClr val="tx1"/>
            </a:solidFill>
          </a:ln>
        </p:spPr>
      </p:pic>
      <p:cxnSp>
        <p:nvCxnSpPr>
          <p:cNvPr id="53" name="Straight Connector 52">
            <a:extLst>
              <a:ext uri="{FF2B5EF4-FFF2-40B4-BE49-F238E27FC236}">
                <a16:creationId xmlns:a16="http://schemas.microsoft.com/office/drawing/2014/main" id="{777C6B31-0746-5127-F0EA-A1B0F1511FA6}"/>
              </a:ext>
            </a:extLst>
          </p:cNvPr>
          <p:cNvCxnSpPr>
            <a:cxnSpLocks/>
          </p:cNvCxnSpPr>
          <p:nvPr/>
        </p:nvCxnSpPr>
        <p:spPr>
          <a:xfrm flipH="1" flipV="1">
            <a:off x="7643387" y="4259133"/>
            <a:ext cx="927331" cy="367237"/>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7242BB2C-A47F-34F8-D9B9-2A175CFBBB79}"/>
              </a:ext>
            </a:extLst>
          </p:cNvPr>
          <p:cNvCxnSpPr>
            <a:cxnSpLocks/>
          </p:cNvCxnSpPr>
          <p:nvPr/>
        </p:nvCxnSpPr>
        <p:spPr>
          <a:xfrm flipH="1" flipV="1">
            <a:off x="7643385" y="5737719"/>
            <a:ext cx="969982" cy="660917"/>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0" name="Rectangle 59">
            <a:extLst>
              <a:ext uri="{FF2B5EF4-FFF2-40B4-BE49-F238E27FC236}">
                <a16:creationId xmlns:a16="http://schemas.microsoft.com/office/drawing/2014/main" id="{2F5ACFB0-ECB8-B3C1-687C-3182FFC12BA5}"/>
              </a:ext>
            </a:extLst>
          </p:cNvPr>
          <p:cNvSpPr/>
          <p:nvPr/>
        </p:nvSpPr>
        <p:spPr>
          <a:xfrm>
            <a:off x="4762197" y="5512501"/>
            <a:ext cx="2663127" cy="2252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 name="Picture 61">
            <a:extLst>
              <a:ext uri="{FF2B5EF4-FFF2-40B4-BE49-F238E27FC236}">
                <a16:creationId xmlns:a16="http://schemas.microsoft.com/office/drawing/2014/main" id="{AA863814-7448-2FFE-B463-7D56D4021A16}"/>
              </a:ext>
            </a:extLst>
          </p:cNvPr>
          <p:cNvPicPr>
            <a:picLocks noChangeAspect="1"/>
          </p:cNvPicPr>
          <p:nvPr/>
        </p:nvPicPr>
        <p:blipFill>
          <a:blip r:embed="rId3"/>
          <a:srcRect l="26086" t="96967" r="27453" b="626"/>
          <a:stretch>
            <a:fillRect/>
          </a:stretch>
        </p:blipFill>
        <p:spPr>
          <a:xfrm>
            <a:off x="4152488" y="5892464"/>
            <a:ext cx="3551700" cy="197310"/>
          </a:xfrm>
          <a:prstGeom prst="rect">
            <a:avLst/>
          </a:prstGeom>
        </p:spPr>
      </p:pic>
      <p:pic>
        <p:nvPicPr>
          <p:cNvPr id="65" name="Picture 64">
            <a:extLst>
              <a:ext uri="{FF2B5EF4-FFF2-40B4-BE49-F238E27FC236}">
                <a16:creationId xmlns:a16="http://schemas.microsoft.com/office/drawing/2014/main" id="{106153C2-C405-338B-77D7-228B5353781F}"/>
              </a:ext>
            </a:extLst>
          </p:cNvPr>
          <p:cNvPicPr>
            <a:picLocks noChangeAspect="1"/>
          </p:cNvPicPr>
          <p:nvPr/>
        </p:nvPicPr>
        <p:blipFill>
          <a:blip r:embed="rId5"/>
          <a:srcRect t="23492" r="2593" b="-1"/>
          <a:stretch>
            <a:fillRect/>
          </a:stretch>
        </p:blipFill>
        <p:spPr>
          <a:xfrm>
            <a:off x="234445" y="9105297"/>
            <a:ext cx="5895249" cy="2468353"/>
          </a:xfrm>
          <a:prstGeom prst="rect">
            <a:avLst/>
          </a:prstGeom>
          <a:ln>
            <a:solidFill>
              <a:schemeClr val="tx1"/>
            </a:solidFill>
          </a:ln>
        </p:spPr>
      </p:pic>
      <p:sp>
        <p:nvSpPr>
          <p:cNvPr id="66" name="TextBox 65">
            <a:extLst>
              <a:ext uri="{FF2B5EF4-FFF2-40B4-BE49-F238E27FC236}">
                <a16:creationId xmlns:a16="http://schemas.microsoft.com/office/drawing/2014/main" id="{27D0662D-FFE2-0185-18A4-C1F861FC8099}"/>
              </a:ext>
            </a:extLst>
          </p:cNvPr>
          <p:cNvSpPr txBox="1"/>
          <p:nvPr/>
        </p:nvSpPr>
        <p:spPr>
          <a:xfrm>
            <a:off x="173568" y="1829105"/>
            <a:ext cx="7761073" cy="276999"/>
          </a:xfrm>
          <a:prstGeom prst="rect">
            <a:avLst/>
          </a:prstGeom>
          <a:solidFill>
            <a:schemeClr val="bg1"/>
          </a:solidFill>
        </p:spPr>
        <p:txBody>
          <a:bodyPr wrap="square" rtlCol="0">
            <a:spAutoFit/>
          </a:bodyPr>
          <a:lstStyle/>
          <a:p>
            <a:r>
              <a:rPr lang="en-US" sz="1200" b="1" i="1" dirty="0">
                <a:latin typeface="AVENIR OBLIQUE" panose="02000503020000020003" pitchFamily="2" charset="0"/>
              </a:rPr>
              <a:t>Correlation between models’ rating for verbatim truth/gist truth and the unethical rating</a:t>
            </a:r>
          </a:p>
        </p:txBody>
      </p:sp>
      <p:sp>
        <p:nvSpPr>
          <p:cNvPr id="68" name="TextBox 67">
            <a:extLst>
              <a:ext uri="{FF2B5EF4-FFF2-40B4-BE49-F238E27FC236}">
                <a16:creationId xmlns:a16="http://schemas.microsoft.com/office/drawing/2014/main" id="{92EC0B86-55C8-EF96-F2CD-BAD6D8F13105}"/>
              </a:ext>
            </a:extLst>
          </p:cNvPr>
          <p:cNvSpPr txBox="1"/>
          <p:nvPr/>
        </p:nvSpPr>
        <p:spPr>
          <a:xfrm>
            <a:off x="8570718" y="6687317"/>
            <a:ext cx="3429000" cy="1477328"/>
          </a:xfrm>
          <a:prstGeom prst="rect">
            <a:avLst/>
          </a:prstGeom>
          <a:noFill/>
          <a:ln w="12700">
            <a:solidFill>
              <a:schemeClr val="bg1">
                <a:lumMod val="85000"/>
              </a:schemeClr>
            </a:solidFill>
          </a:ln>
        </p:spPr>
        <p:txBody>
          <a:bodyPr wrap="square" rtlCol="0">
            <a:spAutoFit/>
          </a:bodyPr>
          <a:lstStyle/>
          <a:p>
            <a:r>
              <a:rPr lang="en-AU" sz="1000" dirty="0"/>
              <a:t>Across both versions, gist-truth ratings clustered more tightly around the reference line, whereas verbatim-truth ratings were more widely dispersed. More importantly, gist truth showed a significantly stronger correlation with unethicality ratings. When models judged the overall gist to be false, they assigned substantially harsher ethical condemnation. By contrast, verbatim inaccuracies did not significantly increase condemnation when the broader gist remained true.</a:t>
            </a:r>
          </a:p>
        </p:txBody>
      </p:sp>
      <p:sp>
        <p:nvSpPr>
          <p:cNvPr id="71" name="TextBox 70">
            <a:extLst>
              <a:ext uri="{FF2B5EF4-FFF2-40B4-BE49-F238E27FC236}">
                <a16:creationId xmlns:a16="http://schemas.microsoft.com/office/drawing/2014/main" id="{9F563953-F827-AF0B-77BE-5125B5D022F5}"/>
              </a:ext>
            </a:extLst>
          </p:cNvPr>
          <p:cNvSpPr txBox="1"/>
          <p:nvPr/>
        </p:nvSpPr>
        <p:spPr>
          <a:xfrm>
            <a:off x="173568" y="11934812"/>
            <a:ext cx="5637179" cy="600164"/>
          </a:xfrm>
          <a:prstGeom prst="rect">
            <a:avLst/>
          </a:prstGeom>
          <a:noFill/>
        </p:spPr>
        <p:txBody>
          <a:bodyPr wrap="square" rtlCol="0">
            <a:spAutoFit/>
          </a:bodyPr>
          <a:lstStyle/>
          <a:p>
            <a:r>
              <a:rPr lang="en-AU" sz="1100" dirty="0"/>
              <a:t>The more the model believes the </a:t>
            </a:r>
            <a:r>
              <a:rPr lang="en-AU" sz="1100" i="1" dirty="0"/>
              <a:t>overall takeaway</a:t>
            </a:r>
            <a:r>
              <a:rPr lang="en-AU" sz="1100" dirty="0"/>
              <a:t> is true, the </a:t>
            </a:r>
            <a:r>
              <a:rPr lang="en-AU" sz="1100" i="1" dirty="0"/>
              <a:t>less</a:t>
            </a:r>
            <a:r>
              <a:rPr lang="en-AU" sz="1100" dirty="0"/>
              <a:t> unethical it rates the statement — and it drops steeply. The two lines (blue = literally-true wording, red = literally-false wording) slide downhill almost stacked on top of each other.  </a:t>
            </a:r>
            <a:endParaRPr lang="en-US" sz="1100" dirty="0"/>
          </a:p>
        </p:txBody>
      </p:sp>
      <p:sp>
        <p:nvSpPr>
          <p:cNvPr id="74" name="TextBox 73">
            <a:extLst>
              <a:ext uri="{FF2B5EF4-FFF2-40B4-BE49-F238E27FC236}">
                <a16:creationId xmlns:a16="http://schemas.microsoft.com/office/drawing/2014/main" id="{7B04E3A4-37C6-3BD9-DCED-11823D310177}"/>
              </a:ext>
            </a:extLst>
          </p:cNvPr>
          <p:cNvSpPr txBox="1"/>
          <p:nvPr/>
        </p:nvSpPr>
        <p:spPr>
          <a:xfrm>
            <a:off x="6096000" y="11934812"/>
            <a:ext cx="6062306" cy="577081"/>
          </a:xfrm>
          <a:prstGeom prst="rect">
            <a:avLst/>
          </a:prstGeom>
          <a:noFill/>
        </p:spPr>
        <p:txBody>
          <a:bodyPr wrap="square" rtlCol="0">
            <a:spAutoFit/>
          </a:bodyPr>
          <a:lstStyle/>
          <a:p>
            <a:r>
              <a:rPr lang="en-AU" sz="1050" dirty="0"/>
              <a:t>A false takeaway costs MORE condemnation when the words are also false.</a:t>
            </a:r>
            <a:br>
              <a:rPr lang="en-AU" sz="1050" dirty="0"/>
            </a:br>
            <a:r>
              <a:rPr lang="en-AU" sz="1050" dirty="0"/>
              <a:t>Being literally true buys ~2x the moral discount when the gist is misleading (gap widens 1.0 -&gt; 2.0). Interaction p&lt;.001 cold, .002 informed</a:t>
            </a:r>
            <a:endParaRPr lang="en-US" sz="1050" dirty="0"/>
          </a:p>
        </p:txBody>
      </p:sp>
      <p:pic>
        <p:nvPicPr>
          <p:cNvPr id="77" name="Picture 76">
            <a:extLst>
              <a:ext uri="{FF2B5EF4-FFF2-40B4-BE49-F238E27FC236}">
                <a16:creationId xmlns:a16="http://schemas.microsoft.com/office/drawing/2014/main" id="{FC61B484-C511-50AB-CDA8-D1BC7A7E930E}"/>
              </a:ext>
            </a:extLst>
          </p:cNvPr>
          <p:cNvPicPr>
            <a:picLocks noChangeAspect="1"/>
          </p:cNvPicPr>
          <p:nvPr/>
        </p:nvPicPr>
        <p:blipFill>
          <a:blip r:embed="rId5"/>
          <a:srcRect t="14170" r="2593" b="77615"/>
          <a:stretch>
            <a:fillRect/>
          </a:stretch>
        </p:blipFill>
        <p:spPr>
          <a:xfrm>
            <a:off x="1655796" y="8653953"/>
            <a:ext cx="8875927" cy="399040"/>
          </a:xfrm>
          <a:prstGeom prst="rect">
            <a:avLst/>
          </a:prstGeom>
          <a:ln>
            <a:noFill/>
          </a:ln>
        </p:spPr>
      </p:pic>
      <p:sp>
        <p:nvSpPr>
          <p:cNvPr id="79" name="TextBox 78">
            <a:extLst>
              <a:ext uri="{FF2B5EF4-FFF2-40B4-BE49-F238E27FC236}">
                <a16:creationId xmlns:a16="http://schemas.microsoft.com/office/drawing/2014/main" id="{8ACAF322-554C-D200-2205-8E1E93EB45BF}"/>
              </a:ext>
            </a:extLst>
          </p:cNvPr>
          <p:cNvSpPr txBox="1"/>
          <p:nvPr/>
        </p:nvSpPr>
        <p:spPr>
          <a:xfrm>
            <a:off x="262773" y="8769474"/>
            <a:ext cx="3575886" cy="253916"/>
          </a:xfrm>
          <a:prstGeom prst="rect">
            <a:avLst/>
          </a:prstGeom>
          <a:noFill/>
        </p:spPr>
        <p:txBody>
          <a:bodyPr wrap="square" rtlCol="0">
            <a:spAutoFit/>
          </a:bodyPr>
          <a:lstStyle/>
          <a:p>
            <a:r>
              <a:rPr lang="en-US" sz="1050" b="1" i="1" dirty="0"/>
              <a:t>Gist’s effect on unethical rating, controlling verbatim</a:t>
            </a:r>
          </a:p>
        </p:txBody>
      </p:sp>
      <p:sp>
        <p:nvSpPr>
          <p:cNvPr id="80" name="TextBox 79">
            <a:extLst>
              <a:ext uri="{FF2B5EF4-FFF2-40B4-BE49-F238E27FC236}">
                <a16:creationId xmlns:a16="http://schemas.microsoft.com/office/drawing/2014/main" id="{E5857F81-2636-9DBF-C447-3B34FF851BC8}"/>
              </a:ext>
            </a:extLst>
          </p:cNvPr>
          <p:cNvSpPr txBox="1"/>
          <p:nvPr/>
        </p:nvSpPr>
        <p:spPr>
          <a:xfrm>
            <a:off x="8478950" y="8748197"/>
            <a:ext cx="3575886" cy="253916"/>
          </a:xfrm>
          <a:prstGeom prst="rect">
            <a:avLst/>
          </a:prstGeom>
          <a:noFill/>
        </p:spPr>
        <p:txBody>
          <a:bodyPr wrap="square" rtlCol="0">
            <a:spAutoFit/>
          </a:bodyPr>
          <a:lstStyle/>
          <a:p>
            <a:r>
              <a:rPr lang="en-US" sz="1050" b="1" i="1" dirty="0"/>
              <a:t>Interaction between gist and verbatim</a:t>
            </a:r>
          </a:p>
        </p:txBody>
      </p:sp>
      <p:pic>
        <p:nvPicPr>
          <p:cNvPr id="82" name="Picture 81">
            <a:extLst>
              <a:ext uri="{FF2B5EF4-FFF2-40B4-BE49-F238E27FC236}">
                <a16:creationId xmlns:a16="http://schemas.microsoft.com/office/drawing/2014/main" id="{78BB113A-6124-DFD6-4DBA-88F567C8C412}"/>
              </a:ext>
            </a:extLst>
          </p:cNvPr>
          <p:cNvPicPr>
            <a:picLocks noChangeAspect="1"/>
          </p:cNvPicPr>
          <p:nvPr/>
        </p:nvPicPr>
        <p:blipFill>
          <a:blip r:embed="rId6"/>
          <a:srcRect t="22687"/>
          <a:stretch>
            <a:fillRect/>
          </a:stretch>
        </p:blipFill>
        <p:spPr>
          <a:xfrm>
            <a:off x="6229920" y="9091587"/>
            <a:ext cx="5629850" cy="2473081"/>
          </a:xfrm>
          <a:prstGeom prst="rect">
            <a:avLst/>
          </a:prstGeom>
          <a:ln>
            <a:solidFill>
              <a:schemeClr val="tx1"/>
            </a:solidFill>
          </a:ln>
        </p:spPr>
      </p:pic>
      <p:graphicFrame>
        <p:nvGraphicFramePr>
          <p:cNvPr id="83" name="Table 82">
            <a:extLst>
              <a:ext uri="{FF2B5EF4-FFF2-40B4-BE49-F238E27FC236}">
                <a16:creationId xmlns:a16="http://schemas.microsoft.com/office/drawing/2014/main" id="{0F6D7970-3E16-2D3F-548C-E47A30C91997}"/>
              </a:ext>
            </a:extLst>
          </p:cNvPr>
          <p:cNvGraphicFramePr>
            <a:graphicFrameLocks noGrp="1"/>
          </p:cNvGraphicFramePr>
          <p:nvPr>
            <p:extLst>
              <p:ext uri="{D42A27DB-BD31-4B8C-83A1-F6EECF244321}">
                <p14:modId xmlns:p14="http://schemas.microsoft.com/office/powerpoint/2010/main" val="2114620154"/>
              </p:ext>
            </p:extLst>
          </p:nvPr>
        </p:nvGraphicFramePr>
        <p:xfrm>
          <a:off x="6129694" y="12730060"/>
          <a:ext cx="6028611" cy="1119916"/>
        </p:xfrm>
        <a:graphic>
          <a:graphicData uri="http://schemas.openxmlformats.org/drawingml/2006/table">
            <a:tbl>
              <a:tblPr/>
              <a:tblGrid>
                <a:gridCol w="2009537">
                  <a:extLst>
                    <a:ext uri="{9D8B030D-6E8A-4147-A177-3AD203B41FA5}">
                      <a16:colId xmlns:a16="http://schemas.microsoft.com/office/drawing/2014/main" val="1959822163"/>
                    </a:ext>
                  </a:extLst>
                </a:gridCol>
                <a:gridCol w="2009537">
                  <a:extLst>
                    <a:ext uri="{9D8B030D-6E8A-4147-A177-3AD203B41FA5}">
                      <a16:colId xmlns:a16="http://schemas.microsoft.com/office/drawing/2014/main" val="93989794"/>
                    </a:ext>
                  </a:extLst>
                </a:gridCol>
                <a:gridCol w="2009537">
                  <a:extLst>
                    <a:ext uri="{9D8B030D-6E8A-4147-A177-3AD203B41FA5}">
                      <a16:colId xmlns:a16="http://schemas.microsoft.com/office/drawing/2014/main" val="331858655"/>
                    </a:ext>
                  </a:extLst>
                </a:gridCol>
              </a:tblGrid>
              <a:tr h="268780">
                <a:tc>
                  <a:txBody>
                    <a:bodyPr/>
                    <a:lstStyle/>
                    <a:p>
                      <a:pPr marL="0" marR="0" indent="0" algn="l" fontAlgn="t">
                        <a:buNone/>
                      </a:pPr>
                      <a:r>
                        <a:rPr lang="en-AU" sz="1000" b="0" i="0" dirty="0">
                          <a:solidFill>
                            <a:srgbClr val="0A0A0A"/>
                          </a:solidFill>
                          <a:effectLst/>
                          <a:latin typeface="Anthropic Sans"/>
                        </a:rPr>
                        <a:t>Left to Right Panel</a:t>
                      </a:r>
                    </a:p>
                  </a:txBody>
                  <a:tcPr marL="57150" marR="57150" marT="57150" marB="57150">
                    <a:lnL>
                      <a:noFill/>
                    </a:lnL>
                    <a:lnR>
                      <a:noFill/>
                    </a:lnR>
                    <a:lnT>
                      <a:noFill/>
                    </a:lnT>
                    <a:lnB>
                      <a:noFill/>
                    </a:lnB>
                    <a:solidFill>
                      <a:schemeClr val="accent2">
                        <a:lumMod val="20000"/>
                        <a:lumOff val="80000"/>
                      </a:schemeClr>
                    </a:solidFill>
                  </a:tcPr>
                </a:tc>
                <a:tc>
                  <a:txBody>
                    <a:bodyPr/>
                    <a:lstStyle/>
                    <a:p>
                      <a:pPr marL="0" marR="0" indent="0" algn="l" fontAlgn="t">
                        <a:buNone/>
                      </a:pPr>
                      <a:r>
                        <a:rPr lang="en-AU" sz="1000" b="0" i="0" dirty="0">
                          <a:solidFill>
                            <a:srgbClr val="0A0A0A"/>
                          </a:solidFill>
                          <a:effectLst/>
                          <a:latin typeface="Anthropic Sans"/>
                        </a:rPr>
                        <a:t>The question it answers</a:t>
                      </a:r>
                    </a:p>
                  </a:txBody>
                  <a:tcPr marL="57150" marR="57150" marT="57150" marB="57150">
                    <a:lnL>
                      <a:noFill/>
                    </a:lnL>
                    <a:lnR>
                      <a:noFill/>
                    </a:lnR>
                    <a:lnT>
                      <a:noFill/>
                    </a:lnT>
                    <a:lnB>
                      <a:noFill/>
                    </a:lnB>
                    <a:solidFill>
                      <a:schemeClr val="accent2">
                        <a:lumMod val="20000"/>
                        <a:lumOff val="80000"/>
                      </a:schemeClr>
                    </a:solidFill>
                  </a:tcPr>
                </a:tc>
                <a:tc>
                  <a:txBody>
                    <a:bodyPr/>
                    <a:lstStyle/>
                    <a:p>
                      <a:pPr marL="0" marR="0" indent="0" algn="l" fontAlgn="t">
                        <a:buNone/>
                      </a:pPr>
                      <a:r>
                        <a:rPr lang="en-AU" sz="1000" b="0" i="0" dirty="0">
                          <a:solidFill>
                            <a:srgbClr val="0A0A0A"/>
                          </a:solidFill>
                          <a:effectLst/>
                          <a:latin typeface="Anthropic Sans"/>
                        </a:rPr>
                        <a:t>Statistical results</a:t>
                      </a:r>
                    </a:p>
                  </a:txBody>
                  <a:tcPr marL="57150" marR="57150" marT="57150" marB="57150">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1620508636"/>
                  </a:ext>
                </a:extLst>
              </a:tr>
              <a:tr h="425568">
                <a:tc>
                  <a:txBody>
                    <a:bodyPr/>
                    <a:lstStyle/>
                    <a:p>
                      <a:pPr marL="0" marR="0" indent="0" algn="l" fontAlgn="t">
                        <a:buNone/>
                      </a:pPr>
                      <a:r>
                        <a:rPr lang="en-AU" sz="1000" b="0" i="0">
                          <a:solidFill>
                            <a:srgbClr val="0A0A0A"/>
                          </a:solidFill>
                          <a:effectLst/>
                          <a:latin typeface="Anthropic Sans"/>
                        </a:rPr>
                        <a:t>gist, controlling for verbatim (partial/main effect)</a:t>
                      </a:r>
                    </a:p>
                  </a:txBody>
                  <a:tcPr marL="57150" marR="57150" marT="57150" marB="57150">
                    <a:lnL>
                      <a:noFill/>
                    </a:lnL>
                    <a:lnR>
                      <a:noFill/>
                    </a:lnR>
                    <a:lnT>
                      <a:noFill/>
                    </a:lnT>
                    <a:lnB>
                      <a:noFill/>
                    </a:lnB>
                    <a:noFill/>
                  </a:tcPr>
                </a:tc>
                <a:tc>
                  <a:txBody>
                    <a:bodyPr/>
                    <a:lstStyle/>
                    <a:p>
                      <a:pPr marL="0" marR="0" indent="0" algn="l" fontAlgn="t">
                        <a:buNone/>
                      </a:pPr>
                      <a:r>
                        <a:rPr lang="en-AU" sz="1000" b="0" i="0" dirty="0">
                          <a:solidFill>
                            <a:srgbClr val="0A0A0A"/>
                          </a:solidFill>
                          <a:effectLst/>
                          <a:latin typeface="Anthropic Sans"/>
                        </a:rPr>
                        <a:t>Does gist predict U </a:t>
                      </a:r>
                      <a:r>
                        <a:rPr lang="en-AU" sz="1000" b="0" i="1" dirty="0">
                          <a:solidFill>
                            <a:srgbClr val="0A0A0A"/>
                          </a:solidFill>
                          <a:effectLst/>
                          <a:latin typeface="Anthropic Sans"/>
                        </a:rPr>
                        <a:t>on its own</a:t>
                      </a:r>
                      <a:r>
                        <a:rPr lang="en-AU" sz="1000" b="0" i="0" dirty="0">
                          <a:solidFill>
                            <a:srgbClr val="0A0A0A"/>
                          </a:solidFill>
                          <a:effectLst/>
                          <a:latin typeface="Anthropic Sans"/>
                        </a:rPr>
                        <a:t>, with verbatim's share removed?</a:t>
                      </a:r>
                    </a:p>
                  </a:txBody>
                  <a:tcPr marL="57150" marR="57150" marT="57150" marB="57150">
                    <a:lnL>
                      <a:noFill/>
                    </a:lnL>
                    <a:lnR>
                      <a:noFill/>
                    </a:lnR>
                    <a:lnT>
                      <a:noFill/>
                    </a:lnT>
                    <a:lnB>
                      <a:noFill/>
                    </a:lnB>
                    <a:noFill/>
                  </a:tcPr>
                </a:tc>
                <a:tc>
                  <a:txBody>
                    <a:bodyPr/>
                    <a:lstStyle/>
                    <a:p>
                      <a:pPr marL="0" marR="0" indent="0" algn="l" fontAlgn="t">
                        <a:buNone/>
                      </a:pPr>
                      <a:r>
                        <a:rPr lang="en-AU" sz="1000" b="0" i="0" dirty="0">
                          <a:solidFill>
                            <a:srgbClr val="0A0A0A"/>
                          </a:solidFill>
                          <a:effectLst/>
                          <a:latin typeface="Anthropic Sans"/>
                        </a:rPr>
                        <a:t>β = −0.71 (cold), −0.77 (informed), p ≈ 10⁻⁴¹/10⁻⁵³</a:t>
                      </a:r>
                    </a:p>
                  </a:txBody>
                  <a:tcPr marL="57150" marR="57150" marT="57150" marB="57150">
                    <a:lnL>
                      <a:noFill/>
                    </a:lnL>
                    <a:lnR>
                      <a:noFill/>
                    </a:lnR>
                    <a:lnT>
                      <a:noFill/>
                    </a:lnT>
                    <a:lnB>
                      <a:noFill/>
                    </a:lnB>
                    <a:noFill/>
                  </a:tcPr>
                </a:tc>
                <a:extLst>
                  <a:ext uri="{0D108BD9-81ED-4DB2-BD59-A6C34878D82A}">
                    <a16:rowId xmlns:a16="http://schemas.microsoft.com/office/drawing/2014/main" val="2054772825"/>
                  </a:ext>
                </a:extLst>
              </a:tr>
              <a:tr h="425568">
                <a:tc>
                  <a:txBody>
                    <a:bodyPr/>
                    <a:lstStyle/>
                    <a:p>
                      <a:pPr marL="0" marR="0" indent="0" algn="l" fontAlgn="t">
                        <a:buNone/>
                      </a:pPr>
                      <a:r>
                        <a:rPr lang="en-AU" sz="1000" b="0" i="0">
                          <a:solidFill>
                            <a:srgbClr val="0A0A0A"/>
                          </a:solidFill>
                          <a:effectLst/>
                          <a:latin typeface="Anthropic Sans"/>
                        </a:rPr>
                        <a:t>gist × verbatim (the interaction)</a:t>
                      </a:r>
                    </a:p>
                  </a:txBody>
                  <a:tcPr marL="57150" marR="57150" marT="57150" marB="57150">
                    <a:lnL>
                      <a:noFill/>
                    </a:lnL>
                    <a:lnR>
                      <a:noFill/>
                    </a:lnR>
                    <a:lnT>
                      <a:noFill/>
                    </a:lnT>
                    <a:lnB>
                      <a:noFill/>
                    </a:lnB>
                    <a:noFill/>
                  </a:tcPr>
                </a:tc>
                <a:tc>
                  <a:txBody>
                    <a:bodyPr/>
                    <a:lstStyle/>
                    <a:p>
                      <a:pPr marL="0" marR="0" indent="0" algn="l" fontAlgn="t">
                        <a:buNone/>
                      </a:pPr>
                      <a:r>
                        <a:rPr lang="en-AU" sz="1000" b="0" i="0" dirty="0">
                          <a:solidFill>
                            <a:srgbClr val="0A0A0A"/>
                          </a:solidFill>
                          <a:effectLst/>
                          <a:latin typeface="Anthropic Sans"/>
                        </a:rPr>
                        <a:t>Does gist's effect </a:t>
                      </a:r>
                      <a:r>
                        <a:rPr lang="en-AU" sz="1000" b="0" i="1" dirty="0">
                          <a:solidFill>
                            <a:srgbClr val="0A0A0A"/>
                          </a:solidFill>
                          <a:effectLst/>
                          <a:latin typeface="Anthropic Sans"/>
                        </a:rPr>
                        <a:t>change</a:t>
                      </a:r>
                      <a:r>
                        <a:rPr lang="en-AU" sz="1000" b="0" i="0" dirty="0">
                          <a:solidFill>
                            <a:srgbClr val="0A0A0A"/>
                          </a:solidFill>
                          <a:effectLst/>
                          <a:latin typeface="Anthropic Sans"/>
                        </a:rPr>
                        <a:t> depending on verbatim?</a:t>
                      </a:r>
                    </a:p>
                  </a:txBody>
                  <a:tcPr marL="57150" marR="57150" marT="57150" marB="57150">
                    <a:lnL>
                      <a:noFill/>
                    </a:lnL>
                    <a:lnR>
                      <a:noFill/>
                    </a:lnR>
                    <a:lnT>
                      <a:noFill/>
                    </a:lnT>
                    <a:lnB>
                      <a:noFill/>
                    </a:lnB>
                    <a:noFill/>
                  </a:tcPr>
                </a:tc>
                <a:tc>
                  <a:txBody>
                    <a:bodyPr/>
                    <a:lstStyle/>
                    <a:p>
                      <a:pPr marL="0" marR="0" indent="0" algn="l" fontAlgn="t">
                        <a:buNone/>
                      </a:pPr>
                      <a:r>
                        <a:rPr lang="en-AU" sz="1000" b="0" i="0" dirty="0">
                          <a:solidFill>
                            <a:srgbClr val="0A0A0A"/>
                          </a:solidFill>
                          <a:effectLst/>
                          <a:latin typeface="Anthropic Sans"/>
                        </a:rPr>
                        <a:t>β = +0.06, p ≈ .11 ns (continuous) — or +1.16, p &lt; .001 </a:t>
                      </a:r>
                    </a:p>
                  </a:txBody>
                  <a:tcPr marL="57150" marR="57150" marT="57150" marB="57150">
                    <a:lnL>
                      <a:noFill/>
                    </a:lnL>
                    <a:lnR>
                      <a:noFill/>
                    </a:lnR>
                    <a:lnT>
                      <a:noFill/>
                    </a:lnT>
                    <a:lnB>
                      <a:noFill/>
                    </a:lnB>
                    <a:noFill/>
                  </a:tcPr>
                </a:tc>
                <a:extLst>
                  <a:ext uri="{0D108BD9-81ED-4DB2-BD59-A6C34878D82A}">
                    <a16:rowId xmlns:a16="http://schemas.microsoft.com/office/drawing/2014/main" val="2644970537"/>
                  </a:ext>
                </a:extLst>
              </a:tr>
            </a:tbl>
          </a:graphicData>
        </a:graphic>
      </p:graphicFrame>
      <p:graphicFrame>
        <p:nvGraphicFramePr>
          <p:cNvPr id="84" name="Table 83">
            <a:extLst>
              <a:ext uri="{FF2B5EF4-FFF2-40B4-BE49-F238E27FC236}">
                <a16:creationId xmlns:a16="http://schemas.microsoft.com/office/drawing/2014/main" id="{BC08DF0F-5CB2-7516-0001-8488084CE6D5}"/>
              </a:ext>
            </a:extLst>
          </p:cNvPr>
          <p:cNvGraphicFramePr>
            <a:graphicFrameLocks noGrp="1"/>
          </p:cNvGraphicFramePr>
          <p:nvPr>
            <p:extLst>
              <p:ext uri="{D42A27DB-BD31-4B8C-83A1-F6EECF244321}">
                <p14:modId xmlns:p14="http://schemas.microsoft.com/office/powerpoint/2010/main" val="2104358565"/>
              </p:ext>
            </p:extLst>
          </p:nvPr>
        </p:nvGraphicFramePr>
        <p:xfrm>
          <a:off x="181059" y="12753144"/>
          <a:ext cx="5826549" cy="1104900"/>
        </p:xfrm>
        <a:graphic>
          <a:graphicData uri="http://schemas.openxmlformats.org/drawingml/2006/table">
            <a:tbl>
              <a:tblPr/>
              <a:tblGrid>
                <a:gridCol w="1942183">
                  <a:extLst>
                    <a:ext uri="{9D8B030D-6E8A-4147-A177-3AD203B41FA5}">
                      <a16:colId xmlns:a16="http://schemas.microsoft.com/office/drawing/2014/main" val="3833876612"/>
                    </a:ext>
                  </a:extLst>
                </a:gridCol>
                <a:gridCol w="1942183">
                  <a:extLst>
                    <a:ext uri="{9D8B030D-6E8A-4147-A177-3AD203B41FA5}">
                      <a16:colId xmlns:a16="http://schemas.microsoft.com/office/drawing/2014/main" val="734524789"/>
                    </a:ext>
                  </a:extLst>
                </a:gridCol>
                <a:gridCol w="1942183">
                  <a:extLst>
                    <a:ext uri="{9D8B030D-6E8A-4147-A177-3AD203B41FA5}">
                      <a16:colId xmlns:a16="http://schemas.microsoft.com/office/drawing/2014/main" val="2506370201"/>
                    </a:ext>
                  </a:extLst>
                </a:gridCol>
              </a:tblGrid>
              <a:tr h="0">
                <a:tc>
                  <a:txBody>
                    <a:bodyPr/>
                    <a:lstStyle/>
                    <a:p>
                      <a:pPr marL="0" marR="0" indent="0" algn="l" fontAlgn="t">
                        <a:buNone/>
                      </a:pPr>
                      <a:r>
                        <a:rPr lang="en-AU" sz="1000" b="0" i="0" dirty="0">
                          <a:solidFill>
                            <a:srgbClr val="0A0A0A"/>
                          </a:solidFill>
                          <a:effectLst/>
                          <a:latin typeface="Anthropic Sans"/>
                        </a:rPr>
                        <a:t>predictor</a:t>
                      </a:r>
                    </a:p>
                  </a:txBody>
                  <a:tcPr marL="57150" marR="57150" marT="57150" marB="57150">
                    <a:lnL>
                      <a:noFill/>
                    </a:lnL>
                    <a:lnR>
                      <a:noFill/>
                    </a:lnR>
                    <a:lnT>
                      <a:noFill/>
                    </a:lnT>
                    <a:lnB>
                      <a:noFill/>
                    </a:lnB>
                    <a:solidFill>
                      <a:schemeClr val="accent2">
                        <a:lumMod val="20000"/>
                        <a:lumOff val="80000"/>
                      </a:schemeClr>
                    </a:solidFill>
                  </a:tcPr>
                </a:tc>
                <a:tc>
                  <a:txBody>
                    <a:bodyPr/>
                    <a:lstStyle/>
                    <a:p>
                      <a:pPr marL="0" marR="0" indent="0" algn="l" fontAlgn="t">
                        <a:buNone/>
                      </a:pPr>
                      <a:r>
                        <a:rPr lang="en-AU" sz="1000" b="0" i="0">
                          <a:solidFill>
                            <a:srgbClr val="0A0A0A"/>
                          </a:solidFill>
                          <a:effectLst/>
                          <a:latin typeface="Anthropic Sans"/>
                        </a:rPr>
                        <a:t>on its own</a:t>
                      </a:r>
                    </a:p>
                  </a:txBody>
                  <a:tcPr marL="57150" marR="57150" marT="57150" marB="57150">
                    <a:lnL>
                      <a:noFill/>
                    </a:lnL>
                    <a:lnR>
                      <a:noFill/>
                    </a:lnR>
                    <a:lnT>
                      <a:noFill/>
                    </a:lnT>
                    <a:lnB>
                      <a:noFill/>
                    </a:lnB>
                    <a:solidFill>
                      <a:schemeClr val="accent2">
                        <a:lumMod val="20000"/>
                        <a:lumOff val="80000"/>
                      </a:schemeClr>
                    </a:solidFill>
                  </a:tcPr>
                </a:tc>
                <a:tc>
                  <a:txBody>
                    <a:bodyPr/>
                    <a:lstStyle/>
                    <a:p>
                      <a:pPr marL="0" marR="0" indent="0" algn="l" fontAlgn="t">
                        <a:buNone/>
                      </a:pPr>
                      <a:r>
                        <a:rPr lang="en-AU" sz="1000" b="0" i="0" dirty="0">
                          <a:solidFill>
                            <a:srgbClr val="0A0A0A"/>
                          </a:solidFill>
                          <a:effectLst/>
                          <a:latin typeface="Anthropic Sans"/>
                        </a:rPr>
                        <a:t>with the other's share removed</a:t>
                      </a:r>
                    </a:p>
                  </a:txBody>
                  <a:tcPr marL="57150" marR="57150" marT="57150" marB="57150">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104341459"/>
                  </a:ext>
                </a:extLst>
              </a:tr>
              <a:tr h="0">
                <a:tc>
                  <a:txBody>
                    <a:bodyPr/>
                    <a:lstStyle/>
                    <a:p>
                      <a:pPr marL="0" marR="0" indent="0" algn="l" fontAlgn="t">
                        <a:buNone/>
                      </a:pPr>
                      <a:r>
                        <a:rPr lang="en-AU" sz="1000" b="0" i="0">
                          <a:solidFill>
                            <a:srgbClr val="0A0A0A"/>
                          </a:solidFill>
                          <a:effectLst/>
                          <a:latin typeface="Anthropic Sans"/>
                        </a:rPr>
                        <a:t>verbatim</a:t>
                      </a:r>
                    </a:p>
                  </a:txBody>
                  <a:tcPr marL="57150" marR="57150" marT="57150" marB="57150">
                    <a:lnL>
                      <a:noFill/>
                    </a:lnL>
                    <a:lnR>
                      <a:noFill/>
                    </a:lnR>
                    <a:lnT>
                      <a:noFill/>
                    </a:lnT>
                    <a:lnB>
                      <a:noFill/>
                    </a:lnB>
                    <a:noFill/>
                  </a:tcPr>
                </a:tc>
                <a:tc>
                  <a:txBody>
                    <a:bodyPr/>
                    <a:lstStyle/>
                    <a:p>
                      <a:pPr marL="0" marR="0" indent="0" algn="l" fontAlgn="t">
                        <a:buNone/>
                      </a:pPr>
                      <a:r>
                        <a:rPr lang="en-AU" sz="1000" b="0" i="0">
                          <a:solidFill>
                            <a:srgbClr val="0A0A0A"/>
                          </a:solidFill>
                          <a:effectLst/>
                          <a:latin typeface="Anthropic Sans"/>
                        </a:rPr>
                        <a:t>r = −0.58 (cold), −0.51 (informed)</a:t>
                      </a:r>
                    </a:p>
                  </a:txBody>
                  <a:tcPr marL="57150" marR="57150" marT="57150" marB="57150">
                    <a:lnL>
                      <a:noFill/>
                    </a:lnL>
                    <a:lnR>
                      <a:noFill/>
                    </a:lnR>
                    <a:lnT>
                      <a:noFill/>
                    </a:lnT>
                    <a:lnB>
                      <a:noFill/>
                    </a:lnB>
                    <a:noFill/>
                  </a:tcPr>
                </a:tc>
                <a:tc>
                  <a:txBody>
                    <a:bodyPr/>
                    <a:lstStyle/>
                    <a:p>
                      <a:pPr marL="0" marR="0" indent="0" algn="l" fontAlgn="t">
                        <a:buNone/>
                      </a:pPr>
                      <a:r>
                        <a:rPr lang="en-AU" sz="1000" b="0" i="0" dirty="0">
                          <a:solidFill>
                            <a:srgbClr val="0A0A0A"/>
                          </a:solidFill>
                          <a:effectLst/>
                          <a:latin typeface="Anthropic Sans"/>
                        </a:rPr>
                        <a:t>β = −0.13 / −0.07, partial r = −0.16 / −0.10 ⟶ </a:t>
                      </a:r>
                      <a:r>
                        <a:rPr lang="en-AU" sz="1000" b="0" i="1" dirty="0">
                          <a:solidFill>
                            <a:srgbClr val="0A0A0A"/>
                          </a:solidFill>
                          <a:effectLst/>
                          <a:latin typeface="Anthropic Sans"/>
                        </a:rPr>
                        <a:t>collapses</a:t>
                      </a:r>
                      <a:endParaRPr lang="en-AU" sz="1000" b="0" i="0" dirty="0">
                        <a:solidFill>
                          <a:srgbClr val="0A0A0A"/>
                        </a:solidFill>
                        <a:effectLst/>
                        <a:latin typeface="Anthropic Sans"/>
                      </a:endParaRPr>
                    </a:p>
                  </a:txBody>
                  <a:tcPr marL="57150" marR="57150" marT="57150" marB="57150">
                    <a:lnL>
                      <a:noFill/>
                    </a:lnL>
                    <a:lnR>
                      <a:noFill/>
                    </a:lnR>
                    <a:lnT>
                      <a:noFill/>
                    </a:lnT>
                    <a:lnB>
                      <a:noFill/>
                    </a:lnB>
                    <a:noFill/>
                  </a:tcPr>
                </a:tc>
                <a:extLst>
                  <a:ext uri="{0D108BD9-81ED-4DB2-BD59-A6C34878D82A}">
                    <a16:rowId xmlns:a16="http://schemas.microsoft.com/office/drawing/2014/main" val="3442098901"/>
                  </a:ext>
                </a:extLst>
              </a:tr>
              <a:tr h="0">
                <a:tc>
                  <a:txBody>
                    <a:bodyPr/>
                    <a:lstStyle/>
                    <a:p>
                      <a:pPr marL="0" marR="0" indent="0" algn="l" fontAlgn="t">
                        <a:buNone/>
                      </a:pPr>
                      <a:r>
                        <a:rPr lang="en-AU" sz="1000" b="0" i="0">
                          <a:solidFill>
                            <a:srgbClr val="0A0A0A"/>
                          </a:solidFill>
                          <a:effectLst/>
                          <a:latin typeface="Anthropic Sans"/>
                        </a:rPr>
                        <a:t>gist</a:t>
                      </a:r>
                    </a:p>
                  </a:txBody>
                  <a:tcPr marL="57150" marR="57150" marT="57150" marB="57150">
                    <a:lnL>
                      <a:noFill/>
                    </a:lnL>
                    <a:lnR>
                      <a:noFill/>
                    </a:lnR>
                    <a:lnT>
                      <a:noFill/>
                    </a:lnT>
                    <a:lnB>
                      <a:noFill/>
                    </a:lnB>
                    <a:noFill/>
                  </a:tcPr>
                </a:tc>
                <a:tc>
                  <a:txBody>
                    <a:bodyPr/>
                    <a:lstStyle/>
                    <a:p>
                      <a:pPr marL="0" marR="0" indent="0" algn="l" fontAlgn="t">
                        <a:buNone/>
                      </a:pPr>
                      <a:r>
                        <a:rPr lang="en-AU" sz="1000" b="0" i="0" dirty="0">
                          <a:solidFill>
                            <a:srgbClr val="0A0A0A"/>
                          </a:solidFill>
                          <a:effectLst/>
                          <a:latin typeface="Anthropic Sans"/>
                        </a:rPr>
                        <a:t>r = −0.79 / −0.81</a:t>
                      </a:r>
                    </a:p>
                  </a:txBody>
                  <a:tcPr marL="57150" marR="57150" marT="57150" marB="57150">
                    <a:lnL>
                      <a:noFill/>
                    </a:lnL>
                    <a:lnR>
                      <a:noFill/>
                    </a:lnR>
                    <a:lnT>
                      <a:noFill/>
                    </a:lnT>
                    <a:lnB>
                      <a:noFill/>
                    </a:lnB>
                    <a:noFill/>
                  </a:tcPr>
                </a:tc>
                <a:tc>
                  <a:txBody>
                    <a:bodyPr/>
                    <a:lstStyle/>
                    <a:p>
                      <a:pPr marL="0" marR="0" indent="0" algn="l" fontAlgn="t">
                        <a:buNone/>
                      </a:pPr>
                      <a:r>
                        <a:rPr lang="en-AU" sz="1000" b="0" i="0" dirty="0">
                          <a:solidFill>
                            <a:srgbClr val="0A0A0A"/>
                          </a:solidFill>
                          <a:effectLst/>
                          <a:latin typeface="Anthropic Sans"/>
                        </a:rPr>
                        <a:t>β = −0.71 / −0.77, partial r = −0.67 / −0.73 ⟶ </a:t>
                      </a:r>
                      <a:r>
                        <a:rPr lang="en-AU" sz="1000" b="0" i="1" dirty="0">
                          <a:solidFill>
                            <a:srgbClr val="0A0A0A"/>
                          </a:solidFill>
                          <a:effectLst/>
                          <a:latin typeface="Anthropic Sans"/>
                        </a:rPr>
                        <a:t>survives</a:t>
                      </a:r>
                      <a:endParaRPr lang="en-AU" sz="1000" b="0" i="0" dirty="0">
                        <a:solidFill>
                          <a:srgbClr val="0A0A0A"/>
                        </a:solidFill>
                        <a:effectLst/>
                        <a:latin typeface="Anthropic Sans"/>
                      </a:endParaRPr>
                    </a:p>
                  </a:txBody>
                  <a:tcPr marL="57150" marR="57150" marT="57150" marB="57150">
                    <a:lnL>
                      <a:noFill/>
                    </a:lnL>
                    <a:lnR>
                      <a:noFill/>
                    </a:lnR>
                    <a:lnT>
                      <a:noFill/>
                    </a:lnT>
                    <a:lnB>
                      <a:noFill/>
                    </a:lnB>
                    <a:noFill/>
                  </a:tcPr>
                </a:tc>
                <a:extLst>
                  <a:ext uri="{0D108BD9-81ED-4DB2-BD59-A6C34878D82A}">
                    <a16:rowId xmlns:a16="http://schemas.microsoft.com/office/drawing/2014/main" val="2258974486"/>
                  </a:ext>
                </a:extLst>
              </a:tr>
            </a:tbl>
          </a:graphicData>
        </a:graphic>
      </p:graphicFrame>
    </p:spTree>
    <p:extLst>
      <p:ext uri="{BB962C8B-B14F-4D97-AF65-F5344CB8AC3E}">
        <p14:creationId xmlns:p14="http://schemas.microsoft.com/office/powerpoint/2010/main" val="110959804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292</TotalTime>
  <Words>431</Words>
  <Application>Microsoft Macintosh PowerPoint</Application>
  <PresentationFormat>Custom</PresentationFormat>
  <Paragraphs>39</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Anthropic Sans</vt:lpstr>
      <vt:lpstr>Aptos</vt:lpstr>
      <vt:lpstr>Aptos Display</vt:lpstr>
      <vt:lpstr>Arial</vt:lpstr>
      <vt:lpstr>AVENIR OBLIQUE</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Baihui Wang</dc:creator>
  <cp:lastModifiedBy>Baihui Wang</cp:lastModifiedBy>
  <cp:revision>1</cp:revision>
  <dcterms:created xsi:type="dcterms:W3CDTF">2026-07-18T23:54:42Z</dcterms:created>
  <dcterms:modified xsi:type="dcterms:W3CDTF">2026-07-19T04:47:42Z</dcterms:modified>
</cp:coreProperties>
</file>